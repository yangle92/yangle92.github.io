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xml" ContentType="application/xml"/>
  <Default Extension="rels" ContentType="application/vnd.openxmlformats-package.relationships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2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theme/theme1.xml" ContentType="application/vnd.openxmlformats-officedocument.them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firstSlideNum="1" mc:Ignorable="p15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2" Type="http://schemas.openxmlformats.org/officeDocument/2006/relationships/slide" Target="slides/slide2.xml" /><Relationship Id="rId19" Type="http://schemas.openxmlformats.org/officeDocument/2006/relationships/slide" Target="slides/slide19.xml" /><Relationship Id="rId12" Type="http://schemas.openxmlformats.org/officeDocument/2006/relationships/slide" Target="slides/slide12.xml" /><Relationship Id="rId24" Type="http://schemas.openxmlformats.org/officeDocument/2006/relationships/slide" Target="slides/slide24.xml" /><Relationship Id="rId9" Type="http://schemas.openxmlformats.org/officeDocument/2006/relationships/slide" Target="slides/slide9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13" Type="http://schemas.openxmlformats.org/officeDocument/2006/relationships/slide" Target="slides/slide13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7" Type="http://schemas.openxmlformats.org/officeDocument/2006/relationships/slide" Target="slides/slide17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8" Type="http://schemas.openxmlformats.org/officeDocument/2006/relationships/slide" Target="slides/slide8.xml" /><Relationship Id="rId25" Type="http://schemas.openxmlformats.org/officeDocument/2006/relationships/slide" Target="slides/slide25.xml" /><Relationship Id="rId28" Type="http://schemas.openxmlformats.org/officeDocument/2006/relationships/slide" Target="slides/slide28.xml" /><Relationship Id="rId29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20" Type="http://schemas.openxmlformats.org/officeDocument/2006/relationships/slide" Target="slides/slide20.xml" /><Relationship Id="rId6" Type="http://schemas.openxmlformats.org/officeDocument/2006/relationships/slide" Target="slides/slide6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kumimoji="1" lang="zh-CN" altLang="en-US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/>
          </a:p>
          <a:p>
            <a:pPr lvl="1"/>
            <a:r>
              <a:rPr kumimoji="1" lang="zh-CN" altLang="en-US"/>
              <a:t>二级</a:t>
            </a:r>
            <a:endParaRPr/>
          </a:p>
          <a:p>
            <a:pPr lvl="2"/>
            <a:r>
              <a:rPr kumimoji="1" lang="zh-CN" altLang="en-US"/>
              <a:t>三级</a:t>
            </a:r>
            <a:endParaRPr/>
          </a:p>
          <a:p>
            <a:pPr lvl="3"/>
            <a:r>
              <a:rPr kumimoji="1" lang="zh-CN" altLang="en-US"/>
              <a:t>四级</a:t>
            </a:r>
            <a:endParaRPr/>
          </a:p>
          <a:p>
            <a:pPr lvl="4"/>
            <a:r>
              <a:rPr kumimoji="1" lang="zh-CN" altLang="en-US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/>
          </a:p>
          <a:p>
            <a:pPr lvl="1"/>
            <a:r>
              <a:rPr kumimoji="1" lang="zh-CN" altLang="en-US"/>
              <a:t>二级</a:t>
            </a:r>
            <a:endParaRPr/>
          </a:p>
          <a:p>
            <a:pPr lvl="2"/>
            <a:r>
              <a:rPr kumimoji="1" lang="zh-CN" altLang="en-US"/>
              <a:t>三级</a:t>
            </a:r>
            <a:endParaRPr/>
          </a:p>
          <a:p>
            <a:pPr lvl="3"/>
            <a:r>
              <a:rPr kumimoji="1" lang="zh-CN" altLang="en-US"/>
              <a:t>四级</a:t>
            </a:r>
            <a:endParaRPr/>
          </a:p>
          <a:p>
            <a:pPr lvl="4"/>
            <a:r>
              <a:rPr kumimoji="1" lang="zh-CN" altLang="en-US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/>
          </a:p>
          <a:p>
            <a:pPr lvl="1"/>
            <a:r>
              <a:rPr kumimoji="1" lang="zh-CN" altLang="en-US"/>
              <a:t>二级</a:t>
            </a:r>
            <a:endParaRPr/>
          </a:p>
          <a:p>
            <a:pPr lvl="2"/>
            <a:r>
              <a:rPr kumimoji="1" lang="zh-CN" altLang="en-US"/>
              <a:t>三级</a:t>
            </a:r>
            <a:endParaRPr/>
          </a:p>
          <a:p>
            <a:pPr lvl="3"/>
            <a:r>
              <a:rPr kumimoji="1" lang="zh-CN" altLang="en-US"/>
              <a:t>四级</a:t>
            </a:r>
            <a:endParaRPr/>
          </a:p>
          <a:p>
            <a:pPr lvl="4"/>
            <a:r>
              <a:rPr kumimoji="1" lang="zh-CN" altLang="en-US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/>
          </a:p>
          <a:p>
            <a:pPr lvl="1"/>
            <a:r>
              <a:rPr kumimoji="1" lang="zh-CN" altLang="en-US"/>
              <a:t>二级</a:t>
            </a:r>
            <a:endParaRPr/>
          </a:p>
          <a:p>
            <a:pPr lvl="2"/>
            <a:r>
              <a:rPr kumimoji="1" lang="zh-CN" altLang="en-US"/>
              <a:t>三级</a:t>
            </a:r>
            <a:endParaRPr/>
          </a:p>
          <a:p>
            <a:pPr lvl="3"/>
            <a:r>
              <a:rPr kumimoji="1" lang="zh-CN" altLang="en-US"/>
              <a:t>四级</a:t>
            </a:r>
            <a:endParaRPr/>
          </a:p>
          <a:p>
            <a:pPr lvl="4"/>
            <a:r>
              <a:rPr kumimoji="1" lang="zh-CN" altLang="en-US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/>
          </a:p>
          <a:p>
            <a:pPr lvl="1"/>
            <a:r>
              <a:rPr kumimoji="1" lang="zh-CN" altLang="en-US"/>
              <a:t>二级</a:t>
            </a:r>
            <a:endParaRPr/>
          </a:p>
          <a:p>
            <a:pPr lvl="2"/>
            <a:r>
              <a:rPr kumimoji="1" lang="zh-CN" altLang="en-US"/>
              <a:t>三级</a:t>
            </a:r>
            <a:endParaRPr/>
          </a:p>
          <a:p>
            <a:pPr lvl="3"/>
            <a:r>
              <a:rPr kumimoji="1" lang="zh-CN" altLang="en-US"/>
              <a:t>四级</a:t>
            </a:r>
            <a:endParaRPr/>
          </a:p>
          <a:p>
            <a:pPr lvl="4"/>
            <a:r>
              <a:rPr kumimoji="1" lang="zh-CN" altLang="en-US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/>
          </a:p>
          <a:p>
            <a:pPr lvl="1"/>
            <a:r>
              <a:rPr kumimoji="1" lang="zh-CN" altLang="en-US"/>
              <a:t>二级</a:t>
            </a:r>
            <a:endParaRPr/>
          </a:p>
          <a:p>
            <a:pPr lvl="2"/>
            <a:r>
              <a:rPr kumimoji="1" lang="zh-CN" altLang="en-US"/>
              <a:t>三级</a:t>
            </a:r>
            <a:endParaRPr/>
          </a:p>
          <a:p>
            <a:pPr lvl="3"/>
            <a:r>
              <a:rPr kumimoji="1" lang="zh-CN" altLang="en-US"/>
              <a:t>四级</a:t>
            </a:r>
            <a:endParaRPr/>
          </a:p>
          <a:p>
            <a:pPr lvl="4"/>
            <a:r>
              <a:rPr kumimoji="1" lang="zh-CN" altLang="en-US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kumimoji="1"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/>
          </a:p>
          <a:p>
            <a:pPr lvl="1"/>
            <a:r>
              <a:rPr kumimoji="1" lang="zh-CN" altLang="en-US"/>
              <a:t>二级</a:t>
            </a:r>
            <a:endParaRPr/>
          </a:p>
          <a:p>
            <a:pPr lvl="2"/>
            <a:r>
              <a:rPr kumimoji="1" lang="zh-CN" altLang="en-US"/>
              <a:t>三级</a:t>
            </a:r>
            <a:endParaRPr/>
          </a:p>
          <a:p>
            <a:pPr lvl="3"/>
            <a:r>
              <a:rPr kumimoji="1" lang="zh-CN" altLang="en-US"/>
              <a:t>四级</a:t>
            </a:r>
            <a:endParaRPr/>
          </a:p>
          <a:p>
            <a:pPr lvl="4"/>
            <a:r>
              <a:rPr kumimoji="1" lang="zh-CN" altLang="en-US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/>
          </a:p>
          <a:p>
            <a:pPr lvl="1"/>
            <a:r>
              <a:rPr kumimoji="1" lang="zh-CN" altLang="en-US"/>
              <a:t>二级</a:t>
            </a:r>
            <a:endParaRPr/>
          </a:p>
          <a:p>
            <a:pPr lvl="2"/>
            <a:r>
              <a:rPr kumimoji="1" lang="zh-CN" altLang="en-US"/>
              <a:t>三级</a:t>
            </a:r>
            <a:endParaRPr/>
          </a:p>
          <a:p>
            <a:pPr lvl="3"/>
            <a:r>
              <a:rPr kumimoji="1" lang="zh-CN" altLang="en-US"/>
              <a:t>四级</a:t>
            </a:r>
            <a:endParaRPr/>
          </a:p>
          <a:p>
            <a:pPr lvl="4"/>
            <a:r>
              <a:rPr kumimoji="1" lang="zh-CN" altLang="en-US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kumimoji="1"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7" Type="http://schemas.openxmlformats.org/officeDocument/2006/relationships/slideLayout" Target="../slideLayouts/slideLayout8.xml" /><Relationship Id="rId1" Type="http://schemas.openxmlformats.org/officeDocument/2006/relationships/slideLayout" Target="../slideLayouts/slideLayout2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kumimoji="1"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/>
          </a:p>
          <a:p>
            <a:pPr lvl="1"/>
            <a:r>
              <a:rPr kumimoji="1" lang="zh-CN" altLang="en-US"/>
              <a:t>二级</a:t>
            </a:r>
            <a:endParaRPr/>
          </a:p>
          <a:p>
            <a:pPr lvl="2"/>
            <a:r>
              <a:rPr kumimoji="1" lang="zh-CN" altLang="en-US"/>
              <a:t>三级</a:t>
            </a:r>
            <a:endParaRPr/>
          </a:p>
          <a:p>
            <a:pPr lvl="3"/>
            <a:r>
              <a:rPr kumimoji="1" lang="zh-CN" altLang="en-US"/>
              <a:t>四级</a:t>
            </a:r>
            <a:endParaRPr/>
          </a:p>
          <a:p>
            <a:pPr lvl="4"/>
            <a:r>
              <a:rPr kumimoji="1" lang="zh-CN" altLang="en-US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304BB9A4-6188-054A-B886-CEA06595B4D1}" type="datetimeFigureOut">
              <a:rPr kumimoji="1" lang="zh-CN" altLang="en-US" smtClean="0"/>
              <a:t>2023/11/21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04C796F-0699-D84B-A44F-610FBC4473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1A1A1A', position: 'relative', overflow: 'hidden' }}&gt;   &lt;Image src=&quot;assets/cover_hero.png&quot; style={{ position: 'absolute', top: 0, left: 0, width: 1280, height: 720, objectFit: 'cover' }} /&gt;   &lt;Box style={{ position: 'absolute', top: 0, left: 0, width: 1280, height: 720, background: 'linear-gradient(90deg, rgba(26,26,26,0.82) 0%, rgba(26,26,26,0.55) 48%, rgba(26,26,26,0.08) 100%)' }} /&gt;   &lt;Box style={{ position: 'absolute', top: 0, left: 0, width: 660, height: 720, padding: '90px 0 70px 80px', display: 'flex', flexDirection: 'column', justifyContent: 'space-between' }}&gt;     &lt;Box style={{ display: 'flex', flexDirection: 'column', gap: 26 }}&gt;       &lt;Box style={{ flexDirection: 'row', alignItems: 'center', gap: 12 }}&gt;         &lt;Box style={{ width: 44, height: 6, background: '#F97316', borderRadius: 3 }} /&gt;         &lt;Text style={{ fontSize: 18, color: '#FAF7F2', letterSpacing: 4, opacity: 0.9 }}&gt;深圳 · 小学四年级 · 家校共育&lt;/Text&gt;       &lt;/Box&gt;       &lt;Text style={{ fontSize: 72, fontWeight: 'bold', color: '#FAF7F2', lineHeight: 1.18 }}&gt;四年级&lt;br /&gt;知识强化训练营&lt;/Text&gt;       &lt;Text style={{ fontSize: 24, color: '#FAF7F2', lineHeight: 1.6, opacity: 0.95 }}&gt;用 DMAIC 找根因 · 用 PDCA 养习惯&lt;br /&gt;从「会做」到「做对」&lt;/Text&gt;     &lt;/Box&gt;     &lt;Box style={{ flexDirection: 'row', alignItems: 'center', gap: 14 }}&gt;       &lt;Box style={{ width: 40, height: 40, borderRadius: 10, border: '2px solid #F97316', justifyContent: 'center', alignItems: 'center' }}&gt;         &lt;Text style={{ fontSize: 18, fontWeight: 'bold', color: '#F97316' }}&gt;训&lt;/Text&gt;       &lt;/Box&gt;       &lt;Text style={{ fontSize: 16, color: '#FAF7F2', opacity: 0.75 }}&gt;好习惯训练营 · 语数英三科 × 方法论一套&lt;/Text&gt;     &lt;/Box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5927" r="0" b="5927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1A">
                  <a:alpha val="82000"/>
                </a:srgbClr>
              </a:gs>
              <a:gs pos="48000">
                <a:srgbClr val="1A1A1A">
                  <a:alpha val="55000"/>
                </a:srgbClr>
              </a:gs>
              <a:gs pos="100000">
                <a:srgbClr val="1A1A1A">
                  <a:alpha val="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762000" y="93345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1314450"/>
            <a:ext cx="5524500" cy="19431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400" b="1">
                <a:solidFill>
                  <a:srgbClr val="FAF7F2"/>
                </a:solidFill>
                <a:latin typeface="Microsoft YaHei"/>
                <a:ea typeface="Microsoft YaHei"/>
              </a:rPr>
              <a:t>四年级</a:t>
            </a:r>
            <a:endParaRPr/>
          </a:p>
          <a:p>
            <a:pPr>
              <a:lnSpc>
                <a:spcPct val="118000"/>
              </a:lnSpc>
            </a:pPr>
            <a:r>
              <a:rPr lang="zh-CN" sz="5400" b="1">
                <a:solidFill>
                  <a:srgbClr val="FAF7F2"/>
                </a:solidFill>
                <a:latin typeface="Microsoft YaHei"/>
                <a:ea typeface="Microsoft YaHei"/>
              </a:rPr>
              <a:t>知识强化训练营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762000" y="5810250"/>
            <a:ext cx="381000" cy="3810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66775" y="58959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295400" y="857250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30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深圳</a:t>
            </a:r>
            <a:r>
              <a:rPr lang="en-US" sz="1350" spc="30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350" spc="30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小学四年级</a:t>
            </a:r>
            <a:r>
              <a:rPr lang="en-US" sz="1350" spc="30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350" spc="30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家校共育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3505200"/>
            <a:ext cx="5524500" cy="8858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用</a:t>
            </a:r>
            <a:r>
              <a:rPr lang="en-US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 DMAIC </a:t>
            </a: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找根因</a:t>
            </a:r>
            <a:r>
              <a:rPr lang="en-US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用</a:t>
            </a:r>
            <a:r>
              <a:rPr lang="en-US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 PDCA </a:t>
            </a: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养习惯</a:t>
            </a:r>
            <a:endParaRPr/>
          </a:p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从「会做」到「做对」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276350" y="5905500"/>
            <a:ext cx="2752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AF7F2">
                    <a:alpha val="75000"/>
                  </a:srgbClr>
                </a:solidFill>
                <a:latin typeface="Microsoft YaHei"/>
                <a:ea typeface="Microsoft YaHei"/>
              </a:rPr>
              <a:t>好习惯训练营</a:t>
            </a:r>
            <a:r>
              <a:rPr lang="en-US" sz="1200">
                <a:solidFill>
                  <a:srgbClr val="FAF7F2">
                    <a:alpha val="7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AF7F2">
                    <a:alpha val="75000"/>
                  </a:srgbClr>
                </a:solidFill>
                <a:latin typeface="Microsoft YaHei"/>
                <a:ea typeface="Microsoft YaHei"/>
              </a:rPr>
              <a:t>语数英三科</a:t>
            </a:r>
            <a:r>
              <a:rPr lang="en-US" sz="1200">
                <a:solidFill>
                  <a:srgbClr val="FAF7F2">
                    <a:alpha val="75000"/>
                  </a:srgbClr>
                </a:solidFill>
                <a:latin typeface="Microsoft YaHei"/>
                <a:ea typeface="Microsoft YaHei"/>
              </a:rPr>
              <a:t> × </a:t>
            </a:r>
            <a:r>
              <a:rPr lang="zh-CN" sz="1200">
                <a:solidFill>
                  <a:srgbClr val="FAF7F2">
                    <a:alpha val="75000"/>
                  </a:srgbClr>
                </a:solidFill>
                <a:latin typeface="Microsoft YaHei"/>
                <a:ea typeface="Microsoft YaHei"/>
              </a:rPr>
              <a:t>方法论一套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305" name="" descr="&lt;Slide style={{ width: 1280, height: 720, background: '#FAF7F2' }}&gt;   &lt;Box style={{ width: 1280, height: 120, padding: '20px 70px 0 70px', display: 'flex', flexDirection: 'row', alignItems: 'center', justifyContent: 'space-between' }}&gt;     &lt;Text style={{ fontSize: 14, color: '#0D9488', letterSpacing: 3, fontWeight: 'bold' }}&gt;GOOD HABIT CAMP&lt;/Text&gt;     &lt;Text style={{ fontSize: 14, color: '#1A1A1A', opacity: 0.55 }}&gt;目录&lt;/Text&gt;   &lt;/Box&gt;   &lt;Box style={{ width: 1280, height: 540, padding: '10px 70px', flexDirection: 'row', gap: 46 }}&gt;     &lt;Box style={{ width: 340, display: 'flex', flexDirection: 'column', justifyContent: 'space-between' }}&gt;       &lt;Text style={{ fontSize: 44, fontWeight: 'bold', color: '#1A1A1A', lineHeight: 1.3 }}&gt;训练&lt;br /&gt;地图&lt;/Text&gt;       &lt;Text style={{ fontSize: 18, color: '#1A1A1A', opacity: 0.7, lineHeight: 1.7 }}&gt;六个站点，一条主线：&lt;br /&gt;看清问题 → 学找根因 → 掌握方法 → 背住口诀 → 21 天养成。&lt;/Text&gt;       &lt;Box style={{ width: 120, height: 120, borderRadius: 60, background: 'rgba(249,115,22,0.1)', justifyContent: 'center', alignItems: 'center' }}&gt;         &lt;Text style={{ fontSize: 40, fontWeight: 'bold', color: '#F97316' }}&gt;6&lt;/Text&gt;       &lt;/Box&gt;     &lt;/Box&gt;     &lt;Box style={{ flex: 1, display: 'flex', flexDirection: 'column', justifyContent: 'space-between' }}&gt;       {[         { n: '01', t: '训练总纲', d: '先看清 12 个问题，再学 DMAIC / PDCA 两把钥匙' },         { n: '02', t: '卷面与书写', d: '卷面是作文的名片——先想好，再动笔' },         { n: '03', t: '语文模块', d: '错别字、口语腔、流水账，一个一个治' },         { n: '04', t: '英语模块', d: '语境、单复数、模板卡，英语闯三关' },         { n: '05', t: '数学模块', d: '计算、读题、检查——粗心不是病，没方法才是' },         { n: '06', t: '好习惯与总结', d: '五段口诀 + 21 天 PDCA 行动表' },       ].map((item, i) =&gt; (         &lt;Box key={i} style={{ flexDirection: 'row', alignItems: 'center', gap: 18, background: '#FFFFFF', borderRadius: 14, padding: '12px 20px', boxShadow: '0 2px 10px rgba(26,26,26,0.05)' }}&gt;           &lt;Text style={{ fontSize: 22, fontWeight: 'bold', color: '#F97316', width: 44 }}&gt;{item.n}&lt;/Text&gt;           &lt;Box style={{ flex: 1 }}&gt;             &lt;Text style={{ fontSize: 21, fontWeight: 'bold', color: '#1A1A1A' }}&gt;{item.t}&lt;/Text&gt;           &lt;/Box&gt;           &lt;Text style={{ fontSize: 15, color: '#1A1A1A', opacity: 0.65, width: 380 }}&gt;{item.d}&lt;/Text&gt;         &lt;/Box&gt;       ))}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02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66750" y="5905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GOOD HABIT CAMP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66750" y="1238250"/>
            <a:ext cx="3238500" cy="1314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300" b="1">
                <a:solidFill>
                  <a:srgbClr val="1A1A1A"/>
                </a:solidFill>
                <a:latin typeface="Microsoft YaHei"/>
                <a:ea typeface="Microsoft YaHei"/>
              </a:rPr>
              <a:t>训练</a:t>
            </a:r>
            <a:endParaRPr/>
          </a:p>
          <a:p>
            <a:pPr>
              <a:lnSpc>
                <a:spcPct val="130000"/>
              </a:lnSpc>
            </a:pPr>
            <a:r>
              <a:rPr lang="zh-CN" sz="3300" b="1">
                <a:solidFill>
                  <a:srgbClr val="1A1A1A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66750" y="504825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133475" y="5391150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4343400" y="1238250"/>
            <a:ext cx="7181850" cy="485775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533900" y="13525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9731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124450" y="136207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训练总纲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4343400" y="2133600"/>
            <a:ext cx="7181850" cy="485775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533900" y="22479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9731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124450" y="225742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卷面与书写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4343400" y="3028950"/>
            <a:ext cx="7181850" cy="485775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533900" y="31432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9731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124450" y="315277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语文模块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343400" y="3914775"/>
            <a:ext cx="7181850" cy="485775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533900" y="40290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97316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124450" y="4038600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英语模块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343400" y="4810125"/>
            <a:ext cx="7181850" cy="485775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533900" y="49244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97316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124450" y="4933950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数学模块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4343400" y="5705475"/>
            <a:ext cx="7181850" cy="485775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533900" y="58197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97316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124450" y="5829300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好习惯与总结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258550" y="5905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66750" y="3276600"/>
            <a:ext cx="32385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六个站点，一条主线：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看清问题</a:t>
            </a:r>
            <a:r>
              <a:rPr lang="en-US" sz="13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学找根因</a:t>
            </a:r>
            <a:r>
              <a:rPr lang="en-US" sz="13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掌握方法</a:t>
            </a:r>
            <a:r>
              <a:rPr lang="en-US" sz="13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背住口诀</a:t>
            </a:r>
            <a:r>
              <a:rPr lang="en-US" sz="13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→ 21 </a:t>
            </a:r>
            <a:r>
              <a:rPr lang="zh-CN" sz="13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天养成。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715250" y="1400175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先看清</a:t>
            </a:r>
            <a:r>
              <a:rPr lang="en-US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 12 </a:t>
            </a: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个问题，再学</a:t>
            </a:r>
            <a:r>
              <a:rPr lang="en-US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 DMAIC / PDCA </a:t>
            </a: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两把钥匙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715250" y="2295525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卷面是作文的名片——先想好，再动笔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715250" y="3190875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错别字、口语腔、流水账，一个一个治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715250" y="407670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语境、单复数、模板卡，英语闯三关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715250" y="49720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计算、读题、检查——粗心不是病，没方法才是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715250" y="586740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五段口诀</a:t>
            </a:r>
            <a:r>
              <a:rPr lang="en-US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 + 21 </a:t>
            </a: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天</a:t>
            </a:r>
            <a:r>
              <a:rPr lang="en-US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 PDCA </a:t>
            </a: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行动表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02 / 28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5" name="" descr="&lt;Slide style={{ width: 1280, height: 720, background: '#1A1A1A', position: 'relative', overflow: 'hidden' }}&gt;   &lt;Image src=&quot;assets/sec_overview.png&quot; style={{ position: 'absolute', top: 0, left: 0, width: 1280, height: 720, objectFit: 'cover' }} /&gt;   &lt;Box style={{ position: 'absolute', top: 0, left: 0, width: 1280, height: 720, background: 'linear-gradient(90deg, rgba(13,148,136,0.78) 0%, rgba(13,148,136,0.45) 50%, rgba(26,26,26,0.15) 100%)' }} /&gt;   &lt;Box style={{ position: 'absolute', top: 0, left: 0, width: 720, height: 720, padding: '0 0 0 90px', display: 'flex', flexDirection: 'column', justifyContent: 'center', gap: 24 }}&gt;     &lt;Text style={{ fontSize: 96, fontWeight: 'bold', color: '#FAF7F2', opacity: 0.35, lineHeight: 1 }}&gt;01&lt;/Text&gt;     &lt;Text style={{ fontSize: 64, fontWeight: 'bold', color: '#FAF7F2', letterSpacing: 6 }}&gt;训练总纲&lt;/Text&gt;     &lt;Box style={{ width: 88, height: 6, background: '#F97316', borderRadius: 3 }} /&gt;     &lt;Text style={{ fontSize: 24, color: '#FAF7F2', lineHeight: 1.6, opacity: 0.95 }}&gt;先看清问题，再学找根因——&lt;br /&gt;DMAIC 与 PDCA，两把钥匙随身带。&lt;/Text&gt;   &lt;/Box&gt;   &lt;Box style={{ position: 'absolute', right: 70, bottom: 40 }}&gt;     &lt;Text style={{ fontSize: 14, color: '#FAF7F2', opacity: 0.7 }}&gt;03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pic>
        <p:nvPicPr>
          <p:cNvPr id="557" name=""/>
          <p:cNvPicPr>
            <a:picLocks noChangeAspect="1"/>
          </p:cNvPicPr>
          <p:nvPr/>
        </p:nvPicPr>
        <p:blipFill>
          <a:blip r:embed="rId1"/>
          <a:srcRect l="0" t="5927" r="0" b="5927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9488">
                  <a:alpha val="78000"/>
                </a:srgbClr>
              </a:gs>
              <a:gs pos="50000">
                <a:srgbClr val="0D9488">
                  <a:alpha val="45000"/>
                </a:srgbClr>
              </a:gs>
              <a:gs pos="100000">
                <a:srgbClr val="1A1A1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60007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 spc="450">
                <a:solidFill>
                  <a:srgbClr val="FAF7F2"/>
                </a:solidFill>
                <a:latin typeface="Microsoft YaHei"/>
                <a:ea typeface="Microsoft YaHei"/>
              </a:rPr>
              <a:t>训练总纲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857250" y="3990975"/>
            <a:ext cx="8382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57250" y="1695450"/>
            <a:ext cx="6000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AF7F2">
                    <a:alpha val="35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57250" y="4276725"/>
            <a:ext cx="6000750" cy="8858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先看清问题，再学找根因——</a:t>
            </a:r>
            <a:endParaRPr/>
          </a:p>
          <a:p>
            <a:pPr>
              <a:lnSpc>
                <a:spcPct val="160000"/>
              </a:lnSpc>
            </a:pPr>
            <a:r>
              <a:rPr lang="en-US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DMAIC </a:t>
            </a: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 PDCA</a:t>
            </a: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，两把钥匙随身带。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1111567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7F2">
                    <a:alpha val="70000"/>
                  </a:srgbClr>
                </a:solidFill>
                <a:latin typeface="Microsoft YaHei"/>
                <a:ea typeface="Microsoft YaHei"/>
              </a:rPr>
              <a:t>03 / 28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564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1 训练总纲&lt;/Text&gt;       &lt;Text style={{ fontSize: 34, fontWeight: 'bold', color: '#1A1A1A' }}&gt;我们的问题全景图&lt;/Text&gt;     &lt;/Box&gt;     &lt;Text style={{ fontSize: 14, color: '#1A1A1A', opacity: 0.55 }}&gt;问题清单&lt;/Text&gt;   &lt;/Box&gt;   &lt;Box style={{ width: 1280, height: 540, padding: '14px 70px', flexDirection: 'row', gap: 40 }}&gt;     &lt;Box style={{ width: 300, height: '100%', background: '#F97316', borderRadius: 18, padding: '30px 26px', display: 'flex', flexDirection: 'column', justifyContent: 'space-between' }}&gt;       &lt;Text style={{ fontSize: 20, color: '#FAF7F2', opacity: 0.9, lineHeight: 1.6 }}&gt;数一数，我们&lt;br /&gt;要一起解决的&lt;/Text&gt;       &lt;Text style={{ fontSize: 100, fontWeight: 'bold', color: '#FAF7F2', lineHeight: 1 }}&gt;12&lt;/Text&gt;       &lt;Text style={{ fontSize: 20, color: '#FAF7F2', opacity: 0.9 }}&gt;个常见问题&lt;/Text&gt;       &lt;Text style={{ fontSize: 15, color: '#FAF7F2', opacity: 0.85, lineHeight: 1.6 }}&gt;它们分散在三科，根子却指向同一处：&lt;br /&gt;习惯与方法。&lt;/Text&gt;     &lt;/Box&gt;     &lt;Box style={{ flex: 1, display: 'flex', flexDirection: 'column', justifyContent: 'space-between' }}&gt;       {[         { tag: '书写', color: '#F97316', items: '字迹潦草卷面差，写了划、划了写' },         { tag: '语文', color: '#0D9488', items: '错别字（作→坐、根→跟）｜答题口语化出现「为啥」｜作文没提纲没主线' },         { tag: '英语', color: '#F97316', items: '选择题不看语境｜填空不管单复数｜语法死背不会用' },         { tag: '数学', color: '#0D9488', items: '计算粗心常出错｜题目读不懂缺图解思维｜错题漏题漏单位' },         { tag: '习惯', color: '#F97316', items: '审题跳读漏关键词｜做完不检查，丢了分都不知道' },       ].map((g, i) =&gt; (         &lt;Box key={i} style={{ flexDirection: 'row', alignItems: 'center', gap: 16 }}&gt;           &lt;Box style={{ width: 76, height: 40, borderRadius: 10, background: g.color, justifyContent: 'center', alignItems: 'center' }}&gt;             &lt;Text style={{ fontSize: 17, fontWeight: 'bold', color: '#FAF7F2' }}&gt;{g.tag}&lt;/Text&gt;           &lt;/Box&gt;           &lt;Text style={{ flex: 1, fontSize: 17, color: '#1A1A1A', lineHeight: 1.55 }}&gt;{g.items}&lt;/Text&gt;         &lt;/Box&gt;       ))}       &lt;Box style={{ background: 'rgba(13,148,136,0.08)', borderRadius: 12, padding: '12px 18px', flexDirection: 'row', alignItems: 'center', gap: 10 }}&gt;         &lt;Text style={{ fontSize: 22, fontWeight: 'bold', color: '#0D9488' }}&gt;结论：&lt;/Text&gt;         &lt;Text style={{ fontSize: 17, color: '#1A1A1A', lineHeight: 1.5 }}&gt;别一个问题一个对策地救火——先学「找根因」的通用方法，12 个问题一起收拾。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04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01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训练总纲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我们的问题全景图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66750" y="1276350"/>
            <a:ext cx="2857500" cy="48768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914400" y="2752725"/>
            <a:ext cx="23622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FAF7F2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3905250" y="1276350"/>
            <a:ext cx="723900" cy="3810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4105275" y="13716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书写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4781550" y="1314450"/>
            <a:ext cx="67437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字迹潦草卷面差，写了划、划了写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3905250" y="2143125"/>
            <a:ext cx="723900" cy="381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4105275" y="22383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语文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4781550" y="2181225"/>
            <a:ext cx="67437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错别字（作→坐、根→跟）｜答题口语化出现「为啥」｜作文没提纲没主线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3905250" y="3019425"/>
            <a:ext cx="723900" cy="3810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4105275" y="31146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英语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4781550" y="3057525"/>
            <a:ext cx="67437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选择题不看语境｜填空不管单复数｜语法死背不会用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905250" y="3886200"/>
            <a:ext cx="723900" cy="381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4105275" y="39814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数学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4781550" y="3924300"/>
            <a:ext cx="67437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计算粗心常出错｜题目读不懂缺图解思维｜错题漏题漏单位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3905250" y="4762500"/>
            <a:ext cx="723900" cy="3810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105275" y="48577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习惯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4781550" y="4800600"/>
            <a:ext cx="67437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审题跳读漏关键词｜做完不检查，丢了分都不知道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3905250" y="5629275"/>
            <a:ext cx="7620000" cy="523875"/>
          </a:xfrm>
          <a:prstGeom prst="roundRect">
            <a:avLst>
              <a:gd name="adj" fmla="val 21818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076700" y="5762625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D9488"/>
                </a:solidFill>
                <a:latin typeface="Microsoft YaHei"/>
                <a:ea typeface="Microsoft YaHei"/>
              </a:rPr>
              <a:t>结论：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800600" y="5743575"/>
            <a:ext cx="5895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别一个问题一个对策地救火——先学「找根因」的通用方法，</a:t>
            </a:r>
            <a:r>
              <a:rPr lang="en-US" sz="1275">
                <a:solidFill>
                  <a:srgbClr val="1A1A1A"/>
                </a:solidFill>
                <a:latin typeface="Microsoft YaHei"/>
                <a:ea typeface="Microsoft YaHei"/>
              </a:rPr>
              <a:t>12 </a:t>
            </a: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个问题一起收拾。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0991850" y="5905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问题清单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14400" y="1562100"/>
            <a:ext cx="23622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数一数，我们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要一起解决的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914400" y="4352925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个常见问题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914400" y="5038725"/>
            <a:ext cx="23622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AF7F2">
                    <a:alpha val="85000"/>
                  </a:srgbClr>
                </a:solidFill>
                <a:latin typeface="Microsoft YaHei"/>
                <a:ea typeface="Microsoft YaHei"/>
              </a:rPr>
              <a:t>它们分散在三科，根子却指向同一处：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FAF7F2">
                    <a:alpha val="85000"/>
                  </a:srgbClr>
                </a:solidFill>
                <a:latin typeface="Microsoft YaHei"/>
                <a:ea typeface="Microsoft YaHei"/>
              </a:rPr>
              <a:t>习惯与方法。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04 / 28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596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1 训练总纲&lt;/Text&gt;       &lt;Text style={{ fontSize: 34, fontWeight: 'bold', color: '#1A1A1A' }}&gt;DMAIC：像侦探一样找根因&lt;/Text&gt;     &lt;/Box&gt;     &lt;Text style={{ fontSize: 14, color: '#1A1A1A', opacity: 0.55 }}&gt;方法论一&lt;/Text&gt;   &lt;/Box&gt;   &lt;Box style={{ width: 1280, height: 540, padding: '18px 70px', display: 'flex', flexDirection: 'column', justifyContent: 'space-between' }}&gt;     &lt;Box style={{ flexDirection: 'row', alignItems: 'center', gap: 24 }}&gt;       &lt;Text style={{ fontSize: 88, fontWeight: 'bold', color: '#F97316', lineHeight: 1 }}&gt;5&lt;/Text&gt;       &lt;Text style={{ fontSize: 30, fontWeight: 'bold', color: '#1A1A1A', lineHeight: 1.35 }}&gt;个步骤连环追问——&lt;br /&gt;别停在「我粗心」，挖到真根因才算数&lt;/Text&gt;     &lt;/Box&gt;     &lt;Box style={{ flexDirection: 'row', alignItems: 'flex-end', gap: 10 }}&gt;       {[         { l: 'D', n: '定义', e: '把问题说出口、数得清', c: '#0D9488' },         { l: 'M', n: '测量', e: '数一数，让数字说话', c: '#0D9488' },         { l: 'A', n: '分析', e: '连问 5 个为什么，挖到根因', c: '#F97316' },         { l: 'I', n: '改进', e: '对症开药，一次改一处', c: '#0D9488' },         { l: 'C', n: '控制', e: '盯住效果，别让老毛病反弹', c: '#0D9488' },       ].map((s, i) =&gt; (         &lt;Box key={i} style={{ flexDirection: 'row', alignItems: 'flex-end', flex: s.l === 'A' ? 1.35 : 1, gap: 10 }}&gt;           &lt;Box style={{ flex: 1, height: s.l === 'A' ? 250 : 215, background: s.l === 'A' ? '#F97316' : 'rgba(13,148,136,0.12)', borderRadius: 16, padding: '20px 16px', display: 'flex', flexDirection: 'column', justifyContent: 'space-between' }}&gt;             &lt;Text style={{ fontSize: 46, fontWeight: 'bold', color: s.l === 'A' ? '#FAF7F2' : s.c, lineHeight: 1 }}&gt;{s.l}&lt;/Text&gt;             &lt;Box style={{ flexDirection: 'column', gap: 6 }}&gt;               &lt;Text style={{ fontSize: 22, fontWeight: 'bold', color: s.l === 'A' ? '#FAF7F2' : '#1A1A1A' }}&gt;{s.n}&lt;/Text&gt;               &lt;Text style={{ fontSize: 15, color: s.l === 'A' ? '#FAF7F2' : '#1A1A1A', opacity: s.l === 'A' ? 0.92 : 0.7, lineHeight: 1.45 }}&gt;{s.e}&lt;/Text&gt;             &lt;/Box&gt;           &lt;/Box&gt;           {i &lt; 4 &amp;&amp; &lt;Box style={{ width: 26, height: 26, borderRadius: 13, background: '#F97316', justifyContent: 'center', alignItems: 'center', marginBottom: s.l === 'D' ? 90 : s.l === 'M' ? 105 : 95 }}&gt;             &lt;Text style={{ fontSize: 16, fontWeight: 'bold', color: '#FAF7F2' }}&gt;→&lt;/Text&gt;           &lt;/Box&gt;}         &lt;/Box&gt;       ))}     &lt;/Box&gt;     &lt;Box style={{ height: 78, background: '#1A1A1A', borderRadius: 16, flexDirection: 'row', alignItems: 'center', justifyContent: 'center', gap: 18 }}&gt;       &lt;Text style={{ fontSize: 18, color: '#FAF7F2', opacity: 0.7 }}&gt;记忆口诀&lt;/Text&gt;       &lt;Text style={{ fontSize: 30, fontWeight: 'bold', color: '#F97316', letterSpacing: 2 }}&gt;一定二量三问根，四改五控记在心&lt;/Text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05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398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01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训练总纲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3981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DMAIC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：像侦探一样找根因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66750" y="1314450"/>
            <a:ext cx="4667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97316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362075" y="1352550"/>
            <a:ext cx="4857750" cy="933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1A1A1A"/>
                </a:solidFill>
                <a:latin typeface="Microsoft YaHei"/>
                <a:ea typeface="Microsoft YaHei"/>
              </a:rPr>
              <a:t>个步骤连环追问——</a:t>
            </a:r>
            <a:endParaRPr/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1A1A1A"/>
                </a:solidFill>
                <a:latin typeface="Microsoft YaHei"/>
                <a:ea typeface="Microsoft YaHei"/>
              </a:rPr>
              <a:t>别停在「我粗心」，挖到真根因才算数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66750" y="2990850"/>
            <a:ext cx="1619250" cy="2047875"/>
          </a:xfrm>
          <a:prstGeom prst="roundRect">
            <a:avLst>
              <a:gd name="adj" fmla="val 9412"/>
            </a:avLst>
          </a:prstGeom>
          <a:solidFill>
            <a:srgbClr val="0D9488">
              <a:alpha val="12000"/>
            </a:srgbClr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19150" y="3181350"/>
            <a:ext cx="13144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D9488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19150" y="4029075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定义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2381250" y="39338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2428875" y="39624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F7F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2724150" y="2990850"/>
            <a:ext cx="1609725" cy="2047875"/>
          </a:xfrm>
          <a:prstGeom prst="roundRect">
            <a:avLst>
              <a:gd name="adj" fmla="val 9467"/>
            </a:avLst>
          </a:prstGeom>
          <a:solidFill>
            <a:srgbClr val="0D9488">
              <a:alpha val="12000"/>
            </a:srgbClr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2876550" y="3181350"/>
            <a:ext cx="1304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D9488"/>
                </a:solidFill>
                <a:latin typeface="Microsoft YaHei"/>
                <a:ea typeface="Microsoft YaHei"/>
              </a:rPr>
              <a:t>M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2876550" y="4276725"/>
            <a:ext cx="1304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测量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4429125" y="3790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4476750" y="38195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F7F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4772025" y="2657475"/>
            <a:ext cx="2305050" cy="2381250"/>
          </a:xfrm>
          <a:prstGeom prst="roundRect">
            <a:avLst>
              <a:gd name="adj" fmla="val 6612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4924425" y="2847975"/>
            <a:ext cx="20002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AF7F2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4924425" y="4276725"/>
            <a:ext cx="2000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AF7F2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7172325" y="38862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7219950" y="39147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F7F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7515225" y="2990850"/>
            <a:ext cx="1609725" cy="2047875"/>
          </a:xfrm>
          <a:prstGeom prst="roundRect">
            <a:avLst>
              <a:gd name="adj" fmla="val 9467"/>
            </a:avLst>
          </a:prstGeom>
          <a:solidFill>
            <a:srgbClr val="0D9488">
              <a:alpha val="12000"/>
            </a:srgbClr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7667625" y="3181350"/>
            <a:ext cx="1304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D9488"/>
                </a:solidFill>
                <a:latin typeface="Microsoft YaHei"/>
                <a:ea typeface="Microsoft YaHei"/>
              </a:rPr>
              <a:t>I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7667625" y="4029075"/>
            <a:ext cx="1304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改进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9220200" y="38862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9267825" y="39147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F7F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9563100" y="2990850"/>
            <a:ext cx="1962150" cy="2047875"/>
          </a:xfrm>
          <a:prstGeom prst="roundRect">
            <a:avLst>
              <a:gd name="adj" fmla="val 7767"/>
            </a:avLst>
          </a:prstGeom>
          <a:solidFill>
            <a:srgbClr val="0D9488">
              <a:alpha val="12000"/>
            </a:srgbClr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9715500" y="3181350"/>
            <a:ext cx="16573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D9488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9715500" y="4029075"/>
            <a:ext cx="1657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控制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66750" y="5372100"/>
            <a:ext cx="10858500" cy="742950"/>
          </a:xfrm>
          <a:prstGeom prst="roundRect">
            <a:avLst>
              <a:gd name="adj" fmla="val 20513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4238625" y="5572125"/>
            <a:ext cx="4572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 spc="150">
                <a:solidFill>
                  <a:srgbClr val="F97316"/>
                </a:solidFill>
                <a:latin typeface="Microsoft YaHei"/>
                <a:ea typeface="Microsoft YaHei"/>
              </a:rPr>
              <a:t>一定二量三问根，四改五控记在心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10991850" y="5905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方法论一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819150" y="4343400"/>
            <a:ext cx="1314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把问题说出口、数得清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2876550" y="4591050"/>
            <a:ext cx="13049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数一数，让数字说话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4924425" y="4591050"/>
            <a:ext cx="20002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连问</a:t>
            </a:r>
            <a:r>
              <a:rPr lang="en-US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个为什么，挖到根因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7667625" y="4343400"/>
            <a:ext cx="13049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对症开药，一次改一处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9715500" y="4343400"/>
            <a:ext cx="1657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盯住效果，别让老毛病反弹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3381375" y="56388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AF7F2">
                    <a:alpha val="70000"/>
                  </a:srgbClr>
                </a:solidFill>
                <a:latin typeface="Microsoft YaHei"/>
                <a:ea typeface="Microsoft YaHei"/>
              </a:rPr>
              <a:t>记忆口诀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05 / 28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38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1 训练总纲&lt;/Text&gt;       &lt;Text style={{ fontSize: 34, fontWeight: 'bold', color: '#1A1A1A' }}&gt;PDCA：好习惯每天转一圈&lt;/Text&gt;     &lt;/Box&gt;     &lt;Text style={{ fontSize: 14, color: '#1A1A1A', opacity: 0.55 }}&gt;方法论二&lt;/Text&gt;   &lt;/Box&gt;   &lt;Box style={{ width: 1280, height: 540, padding: '16px 70px', flexDirection: 'row', gap: 46 }}&gt;     &lt;Box style={{ width: 600, height: '100%', justifyContent: 'center', alignItems: 'center' }}&gt;       &lt;svg width={560} height={470} viewBox='0 0 560 470'&gt;         &lt;circle cx='280' cy='235' r='168' fill='none' stroke='rgba(13,148,136,0.18)' strokeWidth='46' /&gt;         &lt;path d='M 280 67 A 168 168 0 0 1 448 235' fill='none' stroke='#F97316' strokeWidth='46' strokeLinecap='round' /&gt;         &lt;path d='M 448 235 A 168 168 0 0 1 280 403' fill='none' stroke='#0D9488' strokeWidth='46' strokeLinecap='round' /&gt;         &lt;path d='M 280 403 A 168 168 0 0 1 112 235' fill='none' stroke='#F97316' strokeWidth='46' strokeLinecap='round' opacity='0.75' /&gt;         &lt;path d='M 112 235 A 168 168 0 0 1 280 67' fill='none' stroke='#0D9488' strokeWidth='46' strokeLinecap='round' opacity='0.75' /&gt;         &lt;text x='280' y='150' textAnchor='middle' fill='#F97316' fontSize='44' fontWeight='bold'&gt;P&lt;/text&gt;         &lt;text x='408' y='255' textAnchor='middle' fill='#0D9488' fontSize='44' fontWeight='bold'&gt;D&lt;/text&gt;         &lt;text x='280' y='360' textAnchor='middle' fill='#F97316' fontSize='44' fontWeight='bold'&gt;C&lt;/text&gt;         &lt;text x='152' y='255' textAnchor='middle' fill='#0D9488' fontSize='44' fontWeight='bold'&gt;A&lt;/text&gt;         &lt;circle cx='280' cy='235' r='78' fill='#FAF7F2' /&gt;         &lt;text x='280' y='222' textAnchor='middle' fill='#1A1A1A' fontSize='34' fontWeight='bold'&gt;21天&lt;/text&gt;         &lt;text x='280' y='262' textAnchor='middle' fill='#0D9488' fontSize='20'&gt;习惯养成&lt;/text&gt;         &lt;path d='M 452 96 L 486 74' stroke='#F97316' strokeWidth='5' strokeLinecap='round' /&gt;         &lt;path d='M 486 74 L 472 92 M 486 74 L 466 70' stroke='#F97316' strokeWidth='5' strokeLinecap='round' fill='none' /&gt;       &lt;/svg&gt;     &lt;/Box&gt;     &lt;Box style={{ flex: 1, display: 'flex', flexDirection: 'column', justifyContent: 'space-between', padding: '6px 0' }}&gt;       {[         { l: 'P · 计划', t: '放学先列作业清单', d: '预估每项用时，心里有张图', c: '#F97316' },         { l: 'D · 执行', t: '一科一科专注做', d: '草稿分区，番茄钟 25+5', c: '#0D9488' },         { l: 'C · 检查', t: '交作业前跑「三查」', d: '查漏题、查单位、查抄写', c: '#F97316' },         { l: 'A · 改进', t: '错题进错题本', d: '抄题＋错因＋正解，明天重点练', c: '#0D9488' },       ].map((s, i) =&gt; (         &lt;Box key={i} style={{ flexDirection: 'row', alignItems: 'center', gap: 14 }}&gt;           &lt;Box style={{ width: 96, height: 44, borderRadius: 12, background: s.c, justifyContent: 'center', alignItems: 'center' }}&gt;             &lt;Text style={{ fontSize: 17, fontWeight: 'bold', color: '#FAF7F2' }}&gt;{s.l}&lt;/Text&gt;           &lt;/Box&gt;           &lt;Box style={{ flex: 1 }}&gt;             &lt;Text style={{ fontSize: 19, fontWeight: 'bold', color: '#1A1A1A' }}&gt;{s.t}&lt;/Text&gt;             &lt;Text style={{ fontSize: 15, color: '#1A1A1A', opacity: 0.65 }}&gt;{s.d}&lt;/Text&gt;           &lt;/Box&gt;         &lt;/Box&gt;       ))}       &lt;Box style={{ background: 'rgba(249,115,22,0.08)', borderRadius: 12, padding: '14px 18px' }}&gt;         &lt;Text style={{ fontSize: 17, color: '#1A1A1A', lineHeight: 1.6 }}&gt;&lt;span style={{ fontWeight: 'bold', color: '#F97316' }}&gt;两把钥匙分工：&lt;/span&gt;DMAIC 治好「一个问题」，PDCA 养成「一个习惯」——每天转一圈，21 天见效。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06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3838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01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训练总纲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38385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PDCA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：好习惯每天转一圈</a:t>
            </a:r>
            <a:endParaRPr/>
          </a:p>
        </p:txBody>
      </p:sp>
      <p:pic>
        <p:nvPicPr>
          <p:cNvPr id="6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476375"/>
            <a:ext cx="5334000" cy="4476750"/>
          </a:xfrm>
          <a:prstGeom prst="rect">
            <a:avLst/>
          </a:prstGeom>
          <a:ln/>
        </p:spPr>
      </p:pic>
      <p:sp>
        <p:nvSpPr>
          <p:cNvPr id="643" name=""/>
          <p:cNvSpPr/>
          <p:nvPr/>
        </p:nvSpPr>
        <p:spPr>
          <a:xfrm rot="0" flipH="0" flipV="0">
            <a:off x="6819900" y="1352550"/>
            <a:ext cx="914400" cy="419100"/>
          </a:xfrm>
          <a:prstGeom prst="roundRect">
            <a:avLst>
              <a:gd name="adj" fmla="val 27273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991350" y="1466850"/>
            <a:ext cx="581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F7F2"/>
                </a:solidFill>
                <a:latin typeface="Microsoft YaHei"/>
                <a:ea typeface="Microsoft YaHei"/>
              </a:rPr>
              <a:t>P · </a:t>
            </a: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计划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7867650" y="137160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放学先列作业清单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6819900" y="2314575"/>
            <a:ext cx="914400" cy="419100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981825" y="2428875"/>
            <a:ext cx="590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F7F2"/>
                </a:solidFill>
                <a:latin typeface="Microsoft YaHei"/>
                <a:ea typeface="Microsoft YaHei"/>
              </a:rPr>
              <a:t>D · </a:t>
            </a: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执行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7867650" y="2333625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一科一科专注做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6819900" y="3267075"/>
            <a:ext cx="914400" cy="419100"/>
          </a:xfrm>
          <a:prstGeom prst="roundRect">
            <a:avLst>
              <a:gd name="adj" fmla="val 27273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981825" y="3381375"/>
            <a:ext cx="590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F7F2"/>
                </a:solidFill>
                <a:latin typeface="Microsoft YaHei"/>
                <a:ea typeface="Microsoft YaHei"/>
              </a:rPr>
              <a:t>C · </a:t>
            </a: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检查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867650" y="3286125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交作业前跑「三查」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819900" y="4229100"/>
            <a:ext cx="914400" cy="419100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981825" y="4343400"/>
            <a:ext cx="590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F7F2"/>
                </a:solidFill>
                <a:latin typeface="Microsoft YaHei"/>
                <a:ea typeface="Microsoft YaHei"/>
              </a:rPr>
              <a:t>A · </a:t>
            </a: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改进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7867650" y="424815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错题进错题本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6819900" y="5181600"/>
            <a:ext cx="4705350" cy="895350"/>
          </a:xfrm>
          <a:prstGeom prst="roundRect">
            <a:avLst>
              <a:gd name="adj" fmla="val 12766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991350" y="5314950"/>
            <a:ext cx="4362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F97316"/>
                </a:solidFill>
                <a:latin typeface="Microsoft YaHei"/>
                <a:ea typeface="Microsoft YaHei"/>
              </a:rPr>
              <a:t>两把钥匙分工：</a:t>
            </a:r>
            <a:r>
              <a:rPr lang="en-US" sz="1275">
                <a:solidFill>
                  <a:srgbClr val="1A1A1A"/>
                </a:solidFill>
                <a:latin typeface="Microsoft YaHei"/>
                <a:ea typeface="Microsoft YaHei"/>
              </a:rPr>
              <a:t>DMAIC </a:t>
            </a: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治好「一个问题」，</a:t>
            </a:r>
            <a:r>
              <a:rPr lang="en-US" sz="1275">
                <a:solidFill>
                  <a:srgbClr val="1A1A1A"/>
                </a:solidFill>
                <a:latin typeface="Microsoft YaHei"/>
                <a:ea typeface="Microsoft YaHei"/>
              </a:rPr>
              <a:t>PDCA </a:t>
            </a: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养成「一个习惯」——每天转一圈，</a:t>
            </a:r>
            <a:r>
              <a:rPr lang="en-US" sz="1275">
                <a:solidFill>
                  <a:srgbClr val="1A1A1A"/>
                </a:solidFill>
                <a:latin typeface="Microsoft YaHei"/>
                <a:ea typeface="Microsoft YaHei"/>
              </a:rPr>
              <a:t>21 </a:t>
            </a: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天见效。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0991850" y="5905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方法论二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7867650" y="1590675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预估每项用时，心里有张图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7867650" y="255270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草稿分区，番茄钟</a:t>
            </a:r>
            <a:r>
              <a:rPr lang="en-US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 25+5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7867650" y="350520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查漏题、查单位、查抄写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7867650" y="4467225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抄题＋错因＋正解，明天重点练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06 / 28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6" name="" descr="&lt;Slide style={{ width: 1280, height: 720, background: '#1A1A1A', position: 'relative', overflow: 'hidden' }}&gt;   &lt;Image src=&quot;assets/sec_handwriting.png&quot; style={{ position: 'absolute', top: 0, left: 0, width: 1280, height: 720, objectFit: 'cover' }} /&gt;   &lt;Box style={{ position: 'absolute', top: 0, left: 0, width: 1280, height: 720, background: 'linear-gradient(90deg, rgba(249,115,22,0.80) 0%, rgba(249,115,22,0.42) 52%, rgba(26,26,26,0.12) 100%)' }} /&gt;   &lt;Box style={{ position: 'absolute', top: 0, left: 0, width: 720, height: 720, padding: '0 0 0 90px', display: 'flex', flexDirection: 'column', justifyContent: 'center', gap: 24 }}&gt;     &lt;Text style={{ fontSize: 96, fontWeight: 'bold', color: '#FAF7F2', opacity: 0.35, lineHeight: 1 }}&gt;02&lt;/Text&gt;     &lt;Text style={{ fontSize: 64, fontWeight: 'bold', color: '#FAF7F2', letterSpacing: 6 }}&gt;卷面与书写&lt;/Text&gt;     &lt;Box style={{ width: 88, height: 6, background: '#0D9488', borderRadius: 3 }} /&gt;     &lt;Text style={{ fontSize: 24, color: '#FAF7F2', lineHeight: 1.6, opacity: 0.95 }}&gt;卷面是作文的名片——&lt;br /&gt;先想好，再动笔；写错了，画条线。&lt;/Text&gt;   &lt;/Box&gt;   &lt;Box style={{ position: 'absolute', right: 70, bottom: 40 }}&gt;     &lt;Text style={{ fontSize: 14, color: '#FAF7F2', opacity: 0.7 }}&gt;07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pic>
        <p:nvPicPr>
          <p:cNvPr id="668" name=""/>
          <p:cNvPicPr>
            <a:picLocks noChangeAspect="1"/>
          </p:cNvPicPr>
          <p:nvPr/>
        </p:nvPicPr>
        <p:blipFill>
          <a:blip r:embed="rId1"/>
          <a:srcRect l="0" t="5927" r="0" b="5927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97316">
                  <a:alpha val="80000"/>
                </a:srgbClr>
              </a:gs>
              <a:gs pos="52000">
                <a:srgbClr val="F97316">
                  <a:alpha val="42000"/>
                </a:srgbClr>
              </a:gs>
              <a:gs pos="100000">
                <a:srgbClr val="1A1A1A">
                  <a:alpha val="1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60007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 spc="450">
                <a:solidFill>
                  <a:srgbClr val="FAF7F2"/>
                </a:solidFill>
                <a:latin typeface="Microsoft YaHei"/>
                <a:ea typeface="Microsoft YaHei"/>
              </a:rPr>
              <a:t>卷面与书写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857250" y="3990975"/>
            <a:ext cx="838200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857250" y="1695450"/>
            <a:ext cx="6000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AF7F2">
                    <a:alpha val="35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857250" y="4276725"/>
            <a:ext cx="6000750" cy="8858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卷面是作文的名片——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先想好，再动笔；写错了，画条线。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111567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7F2">
                    <a:alpha val="70000"/>
                  </a:srgbClr>
                </a:solidFill>
                <a:latin typeface="Microsoft YaHei"/>
                <a:ea typeface="Microsoft YaHei"/>
              </a:rPr>
              <a:t>07 / 28</a:t>
            </a:r>
            <a:endParaRPr/>
          </a:p>
        </p:txBody>
      </p:sp>
    </p:spTree>
  </p:cSld>
</p:sld>
</file>

<file path=ppt/slides/slide8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675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2 卷面与书写&lt;/Text&gt;       &lt;Text style={{ fontSize: 34, fontWeight: 'bold', color: '#1A1A1A' }}&gt;涂改多？DMAIC 五步来破案&lt;/Text&gt;     &lt;/Box&gt;     &lt;Text style={{ fontSize: 14, color: '#1A1A1A', opacity: 0.55 }}&gt;方法论示范&lt;/Text&gt;   &lt;/Box&gt;   &lt;Box style={{ width: 1280, height: 540, padding: '14px 70px', flexDirection: 'row', gap: 36 }}&gt;     &lt;Box style={{ flex: 1.15, display: 'flex', flexDirection: 'column', justifyContent: 'space-between' }}&gt;       {[         { l: 'D 定义', t: '「一页作业涂改平均超过 5 处」——说得出口、数得清，才叫定义', c: '#0D9488' },         { l: 'M 测量', t: '连续 3 天数涂改处：周一 5、周二 7、周三 4，平均 5.3 处', c: '#0D9488' },         { l: 'A 分析', t: '5 Why：涂改多→写错→没想清楚→急着写完→只想快没想好', c: '#F97316' },         { l: 'I 改进', t: '对症下药：下一页「卷面改善三招」就是处方', c: '#0D9488' },         { l: 'C 控制', t: '每周填「卷面自评表」，涂改数＋星级，让进步看得见', c: '#0D9488' },       ].map((s, i) =&gt; (         &lt;Box key={i} style={{ flexDirection: 'row', alignItems: 'center', gap: 12 }}&gt;           &lt;Box style={{ width: 78, height: 42, borderRadius: 10, background: s.c, justifyContent: 'center', alignItems: 'center' }}&gt;             &lt;Text style={{ fontSize: 15, fontWeight: 'bold', color: '#FAF7F2' }}&gt;{s.l}&lt;/Text&gt;           &lt;/Box&gt;           &lt;Text style={{ flex: 1, fontSize: 16, color: '#1A1A1A', lineHeight: 1.5 }}&gt;{s.t}&lt;/Text&gt;         &lt;/Box&gt;       ))}       &lt;Box style={{ background: '#F97316', borderRadius: 12, padding: '12px 18px' }}&gt;         &lt;Text style={{ fontSize: 19, fontWeight: 'bold', color: '#FAF7F2' }}&gt;根因：先快后改，顺序反了！&lt;/Text&gt;       &lt;/Box&gt;     &lt;/Box&gt;     &lt;Box style={{ flex: 0.85, display: 'flex', flexDirection: 'column', gap: 14 }}&gt;       &lt;Box style={{ background: '#FFFFFF', borderRadius: 14, padding: '16px 20px', boxShadow: '0 2px 10px rgba(26,26,26,0.05)' }}&gt;         &lt;Text style={{ fontSize: 16, fontWeight: 'bold', color: '#1A1A1A', marginBottom: 8 }}&gt;M·测量示范：一周涂改记录&lt;/Text&gt;         &lt;Table           style={{ width: '100%', height: 128 }}           defaultTextStyle={{ fontSize: 15, textAlign: 'center', color: '#1A1A1A' }}           defaultCellStyle={{ border: { left: { width: 1, color: '#eee' }, right: { width: 1, color: '#eee' }, top: { width: 1, color: '#eee' }, bottom: { width: 1, color: '#eee' } } }}           cells={[             [{ text: '时间', textStyle: { bold: true, color: '#FAF7F2' }, cellStyle: { background: { color: '#0D9488' } } }, { text: '周一', textStyle: { bold: true, color: '#FAF7F2' }, cellStyle: { background: { color: '#0D9488' } } }, { text: '周二', textStyle: { bold: true, color: '#FAF7F2' }, cellStyle: { background: { color: '#0D9488' } } }, { text: '周三', textStyle: { bold: true, color: '#FAF7F2' }, cellStyle: { background: { color: '#0D9488' } } }, { text: '平均', textStyle: { bold: true, color: '#FAF7F2' }, cellStyle: { background: { color: '#0D9488' } } }],             ['涂改处', '5 处', { text: '7 处', textStyle: { bold: true, color: '#F97316' } }, '4 处', { text: '5.3 处', textStyle: { bold: true, color: '#F97316' } }],           ]}         /&gt;         &lt;Text style={{ fontSize: 14, color: '#1A1A1A', opacity: 0.65, marginTop: 8 }}&gt;数字不会骗人：问题天天发生，不是「不小心」。&lt;/Text&gt;       &lt;/Box&gt;       &lt;Box style={{ flex: 1, background: 'rgba(13,148,136,0.08)', borderRadius: 14, padding: '16px 20px', display: 'flex', flexDirection: 'column', justifyContent: 'space-between' }}&gt;         &lt;Text style={{ fontSize: 16, fontWeight: 'bold', color: '#0D9488' }}&gt;今晚的训练题（DMAIC 第一步）&lt;/Text&gt;         &lt;Text style={{ fontSize: 16, color: '#1A1A1A', lineHeight: 1.65 }}&gt;数一数昨天作业本上的涂改处数，填进「卷面自评表」，再定本周目标：涂改 ≤ 2 处。明天同一时间对比。&lt;/Text&gt;         &lt;Text style={{ fontSize: 15, color: '#1A1A1A', opacity: 0.7 }}&gt;给家长：涂改是习惯问题不是态度问题——批评无用，给方法才有用。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08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406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02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卷面与书写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4067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涂改多？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DMAIC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五步来破案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66750" y="1276350"/>
            <a:ext cx="742950" cy="400050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19150" y="13906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F7F2"/>
                </a:solidFill>
                <a:latin typeface="Microsoft YaHei"/>
                <a:ea typeface="Microsoft YaHei"/>
              </a:rPr>
              <a:t>D </a:t>
            </a: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定义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1524000" y="1343025"/>
            <a:ext cx="5191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「一页作业涂改平均超过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处」——说得出口、数得清，才叫定义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66750" y="2162175"/>
            <a:ext cx="742950" cy="400050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819150" y="22764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F7F2"/>
                </a:solidFill>
                <a:latin typeface="Microsoft YaHei"/>
                <a:ea typeface="Microsoft YaHei"/>
              </a:rPr>
              <a:t>M </a:t>
            </a: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测量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524000" y="2228850"/>
            <a:ext cx="5191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连续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天数涂改处：周一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5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、周二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7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、周三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4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，平均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5.3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处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666750" y="3048000"/>
            <a:ext cx="742950" cy="400050"/>
          </a:xfrm>
          <a:prstGeom prst="roundRect">
            <a:avLst>
              <a:gd name="adj" fmla="val 2381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819150" y="316230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F7F2"/>
                </a:solidFill>
                <a:latin typeface="Microsoft YaHei"/>
                <a:ea typeface="Microsoft YaHei"/>
              </a:rPr>
              <a:t>A </a:t>
            </a: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524000" y="3114675"/>
            <a:ext cx="5191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5 Why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：涂改多→写错→没想清楚→急着写完→只想快没想好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66750" y="3933825"/>
            <a:ext cx="742950" cy="400050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57250" y="4048125"/>
            <a:ext cx="37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F7F2"/>
                </a:solidFill>
                <a:latin typeface="Microsoft YaHei"/>
                <a:ea typeface="Microsoft YaHei"/>
              </a:rPr>
              <a:t>I </a:t>
            </a: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改进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524000" y="4000500"/>
            <a:ext cx="5191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对症下药：下一页「卷面改善三招」就是处方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666750" y="4819650"/>
            <a:ext cx="742950" cy="400050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819150" y="49339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F7F2"/>
                </a:solidFill>
                <a:latin typeface="Microsoft YaHei"/>
                <a:ea typeface="Microsoft YaHei"/>
              </a:rPr>
              <a:t>C </a:t>
            </a: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控制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524000" y="4886325"/>
            <a:ext cx="5191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每周填「卷面自评表」，涂改数＋星级，让进步看得见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66750" y="5705475"/>
            <a:ext cx="6048375" cy="447675"/>
          </a:xfrm>
          <a:prstGeom prst="roundRect">
            <a:avLst>
              <a:gd name="adj" fmla="val 25532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38200" y="5819775"/>
            <a:ext cx="5705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F7F2"/>
                </a:solidFill>
                <a:latin typeface="Microsoft YaHei"/>
                <a:ea typeface="Microsoft YaHei"/>
              </a:rPr>
              <a:t>根因：先快后改，顺序反了！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7058025" y="1276350"/>
            <a:ext cx="4467225" cy="2028825"/>
          </a:xfrm>
          <a:prstGeom prst="roundRect">
            <a:avLst>
              <a:gd name="adj" fmla="val 657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7248525" y="1428750"/>
            <a:ext cx="408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M·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测量示范：一周涂改记录</a:t>
            </a:r>
            <a:endParaRPr/>
          </a:p>
        </p:txBody>
      </p:sp>
      <p:graphicFrame>
        <p:nvGraphicFramePr>
          <p:cNvPr id="698" name=""/>
          <p:cNvGraphicFramePr/>
          <p:nvPr/>
        </p:nvGraphicFramePr>
        <p:xfrm rot="0" flipH="0" flipV="0">
          <a:off x="7248525" y="1695450"/>
          <a:ext cx="4086225" cy="1219200"/>
        </p:xfrm>
        <a:graphic>
          <a:graphicData uri="http://schemas.openxmlformats.org/drawingml/2006/table">
            <a:tbl>
              <a:tblGrid>
                <a:gridCol w="996017">
                  <a:extLst>
                    <a:ext uri="{9D8B030D-6E8A-4147-A177-3AD203B41FA5}">
                      <a16:colId val="1"/>
                    </a:ext>
                  </a:extLst>
                </a:gridCol>
                <a:gridCol w="722386">
                  <a:extLst>
                    <a:ext uri="{9D8B030D-6E8A-4147-A177-3AD203B41FA5}">
                      <a16:colId val="2"/>
                    </a:ext>
                  </a:extLst>
                </a:gridCol>
                <a:gridCol w="722386">
                  <a:extLst>
                    <a:ext uri="{9D8B030D-6E8A-4147-A177-3AD203B41FA5}">
                      <a16:colId val="3"/>
                    </a:ext>
                  </a:extLst>
                </a:gridCol>
                <a:gridCol w="722386">
                  <a:extLst>
                    <a:ext uri="{9D8B030D-6E8A-4147-A177-3AD203B41FA5}">
                      <a16:colId val="4"/>
                    </a:ext>
                  </a:extLst>
                </a:gridCol>
                <a:gridCol w="923049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6096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周一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周二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周三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平均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096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涂改处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 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97316"/>
                          </a:solidFill>
                          <a:latin typeface="Microsoft YaHei"/>
                          <a:ea typeface="Microsoft YaHei"/>
                        </a:rPr>
                        <a:t>7 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 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97316"/>
                          </a:solidFill>
                          <a:latin typeface="Microsoft YaHei"/>
                          <a:ea typeface="Microsoft YaHei"/>
                        </a:rPr>
                        <a:t>5.3 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</a:tbl>
          </a:graphicData>
        </a:graphic>
      </p:graphicFrame>
      <p:sp>
        <p:nvSpPr>
          <p:cNvPr id="699" name=""/>
          <p:cNvSpPr/>
          <p:nvPr/>
        </p:nvSpPr>
        <p:spPr>
          <a:xfrm rot="0" flipH="0" flipV="0">
            <a:off x="7058025" y="3438525"/>
            <a:ext cx="4467225" cy="2714625"/>
          </a:xfrm>
          <a:prstGeom prst="roundRect">
            <a:avLst>
              <a:gd name="adj" fmla="val 4912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7248525" y="3590925"/>
            <a:ext cx="408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D9488"/>
                </a:solidFill>
                <a:latin typeface="Microsoft YaHei"/>
                <a:ea typeface="Microsoft YaHei"/>
              </a:rPr>
              <a:t>今晚的训练题（</a:t>
            </a:r>
            <a:r>
              <a:rPr lang="en-US" sz="1200" b="1">
                <a:solidFill>
                  <a:srgbClr val="0D9488"/>
                </a:solidFill>
                <a:latin typeface="Microsoft YaHei"/>
                <a:ea typeface="Microsoft YaHei"/>
              </a:rPr>
              <a:t>DMAIC </a:t>
            </a:r>
            <a:r>
              <a:rPr lang="zh-CN" sz="1200" b="1">
                <a:solidFill>
                  <a:srgbClr val="0D9488"/>
                </a:solidFill>
                <a:latin typeface="Microsoft YaHei"/>
                <a:ea typeface="Microsoft YaHei"/>
              </a:rPr>
              <a:t>第一步）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7248525" y="4419600"/>
            <a:ext cx="40862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数一数昨天作业本上的涂改处数，填进「卷面自评表」，再定本周目标：涂改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≤ 2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处。明天同一时间对比。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10858500" y="5905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方法论示范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248525" y="2990850"/>
            <a:ext cx="4086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数字不会骗人：问题天天发生，不是「不小心」。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248525" y="5657850"/>
            <a:ext cx="40862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给家长：涂改是习惯问题不是态度问题——批评无用，给方法才有用。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08 / 28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709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2 卷面与书写&lt;/Text&gt;       &lt;Text style={{ fontSize: 34, fontWeight: 'bold', color: '#1A1A1A' }}&gt;卷面改善三招，对症下药&lt;/Text&gt;     &lt;/Box&gt;     &lt;Text style={{ fontSize: 14, color: '#1A1A1A', opacity: 0.55 }}&gt;根因已挖出：先快后改&lt;/Text&gt;   &lt;/Box&gt;   &lt;Box style={{ width: 1280, height: 540, padding: '12px 70px', display: 'flex', flexDirection: 'column', justifyContent: 'space-between' }}&gt;     &lt;Box style={{ flexDirection: 'row', gap: 14, alignItems: 'stretch' }}&gt;       &lt;Box style={{ flex: 1, background: '#FFFFFF', border: '2px dashed rgba(26,26,26,0.3)', borderRadius: 12, padding: '10px 16px' }}&gt;         &lt;Text style={{ fontSize: 15, color: '#1A1A1A', lineHeight: 1.5 }}&gt;&lt;span style={{ fontWeight: 'bold' }}&gt;乱涂黑团版：&lt;/span&gt;「秋」字写错涂成大黑疙瘩——老师隔着老远只看见墨团，写对的字也被盖住了。&lt;/Text&gt;       &lt;/Box&gt;       &lt;Box style={{ flex: 1, background: '#FFFFFF', border: '2px solid #0D9488', borderRadius: 12, padding: '10px 16px' }}&gt;         &lt;Text style={{ fontSize: 15, color: '#1A1A1A', lineHeight: 1.5 }}&gt;&lt;span style={{ fontWeight: 'bold', color: '#0D9488' }}&gt;单线划改版：&lt;/span&gt;错字上轻轻一条横线，旁边补上工整写法——错在哪、改成啥，一目了然，卷面分稳稳保住。&lt;/Text&gt;       &lt;/Box&gt;     &lt;/Box&gt;     &lt;Box style={{ flexDirection: 'row', gap: 14, flex: 1 }}&gt;       {[         { n: '第 1 招', t: '三思后落笔', d: '落笔前，先在心里的「小屏幕」上把这个字默写一遍：笔画、结构放一遍电影，再动笔。心里有字，笔下才不慌。', k: '心里默写一遍' },         { n: '第 2 招', t: '草稿四分格', d: '草稿纸对折两次分出四格，按题号一格一题地用；拿不准的词句先在草稿格里「排练」，练顺了再请上作业本。', k: '一格一题不混用' },         { n: '第 3 招', t: '错了画单横线', d: '写错不慌，错字上轻轻画一条横线，旁边端端正正写上正确的。批卷常识：乱涂的黑团比错字更扣分！', k: '一条线，不涂团' },       ].map((c, i) =&gt; (         &lt;Box key={i} style={{ flex: 1, background: '#FFFFFF', borderRadius: 16, padding: '18px 20px', boxShadow: '0 4px 16px rgba(26,26,26,0.07)', display: 'flex', flexDirection: 'column' }}&gt;           &lt;Text style={{ fontSize: 15, fontWeight: 'bold', color: '#F97316', letterSpacing: 2 }}&gt;{c.n}&lt;/Text&gt;           &lt;Text style={{ fontSize: 24, fontWeight: 'bold', color: '#1A1A1A', marginTop: 6 }}&gt;{c.t}&lt;/Text&gt;           &lt;Text style={{ fontSize: 16, color: '#1A1A1A', opacity: 0.8, lineHeight: 1.6, marginTop: 10, flex: 1 }}&gt;{c.d}&lt;/Text&gt;           &lt;Box style={{ marginTop: 'auto', background: 'rgba(13,148,136,0.1)', borderRadius: 8, padding: '6px 12px', alignSelf: 'flex-start' }}&gt;             &lt;Text style={{ fontSize: 14, fontWeight: 'bold', color: '#0D9488' }}&gt;{c.k}&lt;/Text&gt;           &lt;/Box&gt;         &lt;/Box&gt;       ))}     &lt;/Box&gt;     &lt;Box style={{ flexDirection: 'row', gap: 14 }}&gt;       &lt;Box style={{ flex: 1.2, background: '#1A1A1A', borderRadius: 12, padding: '10px 18px', flexDirection: 'row', alignItems: 'center', gap: 14 }}&gt;         &lt;Text style={{ fontSize: 15, color: '#FAF7F2', opacity: 0.7 }}&gt;口诀&lt;/Text&gt;         &lt;Text style={{ fontSize: 21, fontWeight: 'bold', color: '#F97316' }}&gt;先想好，再动笔；写错了，画条线&lt;/Text&gt;       &lt;/Box&gt;       &lt;Box style={{ flex: 1, background: 'rgba(249,115,22,0.08)', borderRadius: 12, padding: '10px 16px' }}&gt;         &lt;Text style={{ fontSize: 14, color: '#1A1A1A', lineHeight: 1.5 }}&gt;&lt;span style={{ fontWeight: 'bold', color: '#F97316' }}&gt;训练：&lt;/span&gt;5 分钟抄「秋天的雨，藏着好闻的气味」要求零涂改；再当卷面小医生，给同桌的作业挑 3 处毛病。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09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02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卷面与书写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卷面改善三招，对症下药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666750" y="1257300"/>
            <a:ext cx="5362575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25400">
            <a:solidFill>
              <a:srgbClr val="1A1A1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819150" y="1352550"/>
            <a:ext cx="50577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乱涂黑团版：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「秋」字写错涂成大黑疙瘩——老师隔着老远只看见墨团，写对的字也被盖住了。</a:t>
            </a:r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6162675" y="1257300"/>
            <a:ext cx="5362575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315075" y="1352550"/>
            <a:ext cx="50577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0D9488"/>
                </a:solidFill>
                <a:latin typeface="Microsoft YaHei"/>
                <a:ea typeface="Microsoft YaHei"/>
              </a:rPr>
              <a:t>单线划改版：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错字上轻轻一条横线，旁边补上工整写法——错在哪、改成啥，一目了然，卷面分稳稳保住。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666750" y="1962150"/>
            <a:ext cx="3533775" cy="3533775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857250" y="2133600"/>
            <a:ext cx="3152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97316"/>
                </a:solidFill>
                <a:latin typeface="Microsoft YaHei"/>
                <a:ea typeface="Microsoft YaHei"/>
              </a:rPr>
              <a:t>第</a:t>
            </a:r>
            <a:r>
              <a:rPr lang="en-US" sz="1125" b="1" spc="150">
                <a:solidFill>
                  <a:srgbClr val="F97316"/>
                </a:solidFill>
                <a:latin typeface="Microsoft YaHei"/>
                <a:ea typeface="Microsoft YaHei"/>
              </a:rPr>
              <a:t> 1 </a:t>
            </a:r>
            <a:r>
              <a:rPr lang="zh-CN" sz="1125" b="1" spc="150">
                <a:solidFill>
                  <a:srgbClr val="F97316"/>
                </a:solidFill>
                <a:latin typeface="Microsoft YaHei"/>
                <a:ea typeface="Microsoft YaHei"/>
              </a:rPr>
              <a:t>招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857250" y="2362200"/>
            <a:ext cx="31527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三思后落笔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857250" y="5048250"/>
            <a:ext cx="1028700" cy="276225"/>
          </a:xfrm>
          <a:prstGeom prst="roundRect">
            <a:avLst>
              <a:gd name="adj" fmla="val 27586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971550" y="51054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D9488"/>
                </a:solidFill>
                <a:latin typeface="Microsoft YaHei"/>
                <a:ea typeface="Microsoft YaHei"/>
              </a:rPr>
              <a:t>心里默写一遍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4333875" y="1962150"/>
            <a:ext cx="3524250" cy="353377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4524375" y="213360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97316"/>
                </a:solidFill>
                <a:latin typeface="Microsoft YaHei"/>
                <a:ea typeface="Microsoft YaHei"/>
              </a:rPr>
              <a:t>第</a:t>
            </a:r>
            <a:r>
              <a:rPr lang="en-US" sz="1125" b="1" spc="150">
                <a:solidFill>
                  <a:srgbClr val="F97316"/>
                </a:solidFill>
                <a:latin typeface="Microsoft YaHei"/>
                <a:ea typeface="Microsoft YaHei"/>
              </a:rPr>
              <a:t> 2 </a:t>
            </a:r>
            <a:r>
              <a:rPr lang="zh-CN" sz="1125" b="1" spc="150">
                <a:solidFill>
                  <a:srgbClr val="F97316"/>
                </a:solidFill>
                <a:latin typeface="Microsoft YaHei"/>
                <a:ea typeface="Microsoft YaHei"/>
              </a:rPr>
              <a:t>招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4524375" y="2362200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草稿四分格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4524375" y="5048250"/>
            <a:ext cx="1162050" cy="276225"/>
          </a:xfrm>
          <a:prstGeom prst="roundRect">
            <a:avLst>
              <a:gd name="adj" fmla="val 27586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4638675" y="51054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D9488"/>
                </a:solidFill>
                <a:latin typeface="Microsoft YaHei"/>
                <a:ea typeface="Microsoft YaHei"/>
              </a:rPr>
              <a:t>一格一题不混用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7991475" y="1962150"/>
            <a:ext cx="3533775" cy="3533775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8181975" y="2133600"/>
            <a:ext cx="3152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97316"/>
                </a:solidFill>
                <a:latin typeface="Microsoft YaHei"/>
                <a:ea typeface="Microsoft YaHei"/>
              </a:rPr>
              <a:t>第</a:t>
            </a:r>
            <a:r>
              <a:rPr lang="en-US" sz="1125" b="1" spc="150">
                <a:solidFill>
                  <a:srgbClr val="F97316"/>
                </a:solidFill>
                <a:latin typeface="Microsoft YaHei"/>
                <a:ea typeface="Microsoft YaHei"/>
              </a:rPr>
              <a:t> 3 </a:t>
            </a:r>
            <a:r>
              <a:rPr lang="zh-CN" sz="1125" b="1" spc="150">
                <a:solidFill>
                  <a:srgbClr val="F97316"/>
                </a:solidFill>
                <a:latin typeface="Microsoft YaHei"/>
                <a:ea typeface="Microsoft YaHei"/>
              </a:rPr>
              <a:t>招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8181975" y="2362200"/>
            <a:ext cx="31527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错了画单横线</a:t>
            </a:r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8181975" y="5048250"/>
            <a:ext cx="1162050" cy="276225"/>
          </a:xfrm>
          <a:prstGeom prst="roundRect">
            <a:avLst>
              <a:gd name="adj" fmla="val 27586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8296275" y="51054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D9488"/>
                </a:solidFill>
                <a:latin typeface="Microsoft YaHei"/>
                <a:ea typeface="Microsoft YaHei"/>
              </a:rPr>
              <a:t>一条线，不涂团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66750" y="5495925"/>
            <a:ext cx="5848350" cy="676275"/>
          </a:xfrm>
          <a:prstGeom prst="roundRect">
            <a:avLst>
              <a:gd name="adj" fmla="val 16901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257300" y="5715000"/>
            <a:ext cx="3000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97316"/>
                </a:solidFill>
                <a:latin typeface="Microsoft YaHei"/>
                <a:ea typeface="Microsoft YaHei"/>
              </a:rPr>
              <a:t>先想好，再动笔；写错了，画条线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6648450" y="5495925"/>
            <a:ext cx="4876800" cy="676275"/>
          </a:xfrm>
          <a:prstGeom prst="roundRect">
            <a:avLst>
              <a:gd name="adj" fmla="val 16901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6800850" y="5591175"/>
            <a:ext cx="4572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F97316"/>
                </a:solidFill>
                <a:latin typeface="Microsoft YaHei"/>
                <a:ea typeface="Microsoft YaHei"/>
              </a:rPr>
              <a:t>训练：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5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分钟抄「秋天的雨，藏着好闻的气味」要求零涂改；再当卷面小医生，给同桌的作业挑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处毛病。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0191750" y="5905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根因已挖出：先快后改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857250" y="2733675"/>
            <a:ext cx="3152775" cy="2314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落笔前，先在心里的「小屏幕」上把这个字默写一遍：笔画、结构放一遍电影，再动笔。心里有字，笔下才不慌。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4524375" y="2733675"/>
            <a:ext cx="3143250" cy="2314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草稿纸对折两次分出四格，按题号一格一题地用；拿不准的词句先在草稿格里「排练」，练顺了再请上作业本。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8181975" y="2733675"/>
            <a:ext cx="3152775" cy="2314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写错不慌，错字上轻轻画一条横线，旁边端端正正写上正确的。批卷常识：乱涂的黑团比错字更扣分！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838200" y="57531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AF7F2">
                    <a:alpha val="70000"/>
                  </a:srgbClr>
                </a:solidFill>
                <a:latin typeface="Microsoft YaHei"/>
                <a:ea typeface="Microsoft YaHei"/>
              </a:rPr>
              <a:t>口诀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09 / 28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 descr="&lt;Slide style={{ width: 1280, height: 720, background: '#1A1A1A', position: 'relative', overflow: 'hidden' }}&gt;   &lt;Image src=&quot;assets/sec_chinese.png&quot; style={{ position: 'absolute', top: 0, left: 0, width: 1280, height: 720, objectFit: 'cover' }} /&gt;   &lt;Box style={{ position: 'absolute', top: 0, left: 0, width: 1280, height: 720, background: 'linear-gradient(90deg, rgba(13,148,136,0.80) 0%, rgba(13,148,136,0.42) 52%, rgba(26,26,26,0.12) 100%)' }} /&gt;   &lt;Box style={{ position: 'absolute', top: 0, left: 0, width: 720, height: 720, padding: '0 0 0 90px', display: 'flex', flexDirection: 'column', justifyContent: 'center', gap: 24 }}&gt;     &lt;Text style={{ fontSize: 96, fontWeight: 'bold', color: '#FAF7F2', opacity: 0.35, lineHeight: 1 }}&gt;03&lt;/Text&gt;     &lt;Text style={{ fontSize: 64, fontWeight: 'bold', color: '#FAF7F2', letterSpacing: 6 }}&gt;语文模块&lt;/Text&gt;     &lt;Box style={{ width: 88, height: 6, background: '#F97316', borderRadius: 3 }} /&gt;     &lt;Text style={{ fontSize: 24, color: '#FAF7F2', lineHeight: 1.6, opacity: 0.95 }}&gt;错别字、口语腔、流水账——&lt;br /&gt;一个一个治，治一个成一个。&lt;/Text&gt;   &lt;/Box&gt;   &lt;Box style={{ position: 'absolute', right: 70, bottom: 40 }}&gt;     &lt;Text style={{ fontSize: 14, color: '#FAF7F2', opacity: 0.7 }}&gt;10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1"/>
          <a:srcRect l="0" t="5927" r="0" b="5927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9488">
                  <a:alpha val="80000"/>
                </a:srgbClr>
              </a:gs>
              <a:gs pos="52000">
                <a:srgbClr val="0D9488">
                  <a:alpha val="42000"/>
                </a:srgbClr>
              </a:gs>
              <a:gs pos="100000">
                <a:srgbClr val="1A1A1A">
                  <a:alpha val="1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60007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 spc="450">
                <a:solidFill>
                  <a:srgbClr val="FAF7F2"/>
                </a:solidFill>
                <a:latin typeface="Microsoft YaHei"/>
                <a:ea typeface="Microsoft YaHei"/>
              </a:rPr>
              <a:t>语文模块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857250" y="3990975"/>
            <a:ext cx="8382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57250" y="1695450"/>
            <a:ext cx="6000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AF7F2">
                    <a:alpha val="35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57250" y="4276725"/>
            <a:ext cx="6000750" cy="8858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错别字、口语腔、流水账——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一个一个治，治一个成一个。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11567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7F2">
                    <a:alpha val="70000"/>
                  </a:srgbClr>
                </a:solidFill>
                <a:latin typeface="Microsoft YaHei"/>
                <a:ea typeface="Microsoft YaHei"/>
              </a:rPr>
              <a:t>10 / 28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1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3 语文模块&lt;/Text&gt;       &lt;Text style={{ fontSize: 34, fontWeight: 'bold', color: '#1A1A1A' }}&gt;错别字：偏旁是字的身份证&lt;/Text&gt;     &lt;/Box&gt;     &lt;Text style={{ fontSize: 14, color: '#1A1A1A', opacity: 0.55 }}&gt;根因：只记读音不记字义&lt;/Text&gt;   &lt;/Box&gt;   &lt;Box style={{ width: 1280, height: 540, padding: '14px 70px', flexDirection: 'row', gap: 40 }}&gt;     &lt;Box style={{ flex: 1.35, display: 'flex', flexDirection: 'column', justifyContent: 'space-between' }}&gt;       &lt;Box style={{ flexDirection: 'row', gap: 16, alignItems: 'stretch' }}&gt;         &lt;Box style={{ flex: 1, background: 'rgba(249,115,22,0.08)', borderRadius: 16, padding: '14px 18px', flexDirection: 'row', alignItems: 'center', gap: 14 }}&gt;           &lt;Text style={{ fontSize: 64, fontWeight: 'bold', color: '#F97316' }}&gt;作&lt;/Text&gt;           &lt;Box style={{ flexDirection: 'column', gap: 4 }}&gt;             &lt;Text style={{ fontSize: 16, fontWeight: 'bold', color: '#1A1A1A' }}&gt;单人旁 = 人在做事&lt;/Text&gt;             &lt;Text style={{ fontSize: 14, color: '#1A1A1A', opacity: 0.7 }}&gt;作家 · 工作 · 作业&lt;/Text&gt;           &lt;/Box&gt;         &lt;/Box&gt;         &lt;Box style={{ flex: 1, background: 'rgba(13,148,136,0.08)', borderRadius: 16, padding: '14px 18px', flexDirection: 'row', alignItems: 'center', gap: 14 }}&gt;           &lt;Text style={{ fontSize: 64, fontWeight: 'bold', color: '#0D9488' }}&gt;坐&lt;/Text&gt;           &lt;Box style={{ flexDirection: 'column', gap: 4 }}&gt;             &lt;Text style={{ fontSize: 16, fontWeight: 'bold', color: '#1A1A1A' }}&gt;两人坐在土堆上&lt;/Text&gt;             &lt;Text style={{ fontSize: 14, color: '#1A1A1A', opacity: 0.7 }}&gt;坐下 · 坐好 · 乘坐&lt;/Text&gt;           &lt;/Box&gt;         &lt;/Box&gt;       &lt;/Box&gt;       &lt;Box style={{ flexDirection: 'row', gap: 16, alignItems: 'stretch' }}&gt;         &lt;Box style={{ flex: 1, background: 'rgba(249,115,22,0.08)', borderRadius: 16, padding: '14px 18px', flexDirection: 'row', alignItems: 'center', gap: 14 }}&gt;           &lt;Text style={{ fontSize: 64, fontWeight: 'bold', color: '#F97316' }}&gt;根&lt;/Text&gt;           &lt;Box style={{ flexDirection: 'column', gap: 4 }}&gt;             &lt;Text style={{ fontSize: 16, fontWeight: 'bold', color: '#1A1A1A' }}&gt;木字旁 = 树根在树下&lt;/Text&gt;             &lt;Text style={{ fontSize: 14, color: '#1A1A1A', opacity: 0.7 }}&gt;树根 · 根源 · 根本&lt;/Text&gt;           &lt;/Box&gt;         &lt;/Box&gt;         &lt;Box style={{ flex: 1, background: 'rgba(13,148,136,0.08)', borderRadius: 16, padding: '14px 18px', flexDirection: 'row', alignItems: 'center', gap: 14 }}&gt;           &lt;Text style={{ fontSize: 64, fontWeight: 'bold', color: '#0D9488' }}&gt;跟&lt;/Text&gt;           &lt;Box style={{ flexDirection: 'column', gap: 4 }}&gt;             &lt;Text style={{ fontSize: 16, fontWeight: 'bold', color: '#1A1A1A' }}&gt;足字旁 = 用脚跟着走&lt;/Text&gt;             &lt;Text style={{ fontSize: 14, color: '#1A1A1A', opacity: 0.7 }}&gt;跟随 · 脚跟 · 跟从&lt;/Text&gt;           &lt;/Box&gt;         &lt;/Box&gt;       &lt;/Box&gt;       &lt;Box style={{ background: '#1A1A1A', borderRadius: 12, padding: '12px 18px' }}&gt;         &lt;Text style={{ fontSize: 19, fontWeight: 'bold', color: '#F97316' }}&gt;做人做事单人作，两人坐土才是坐 ／ 树根有木，脚跟有足&lt;/Text&gt;       &lt;/Box&gt;     &lt;/Box&gt;     &lt;Box style={{ flex: 1, display: 'flex', flexDirection: 'column', justifyContent: 'space-between' }}&gt;       &lt;Box style={{ flexDirection: 'column', gap: 10 }}&gt;         &lt;Text style={{ fontSize: 18, fontWeight: 'bold', color: '#0D9488' }}&gt;根因分析（DMAIC·A）&lt;/Text&gt;         &lt;Text style={{ fontSize: 16, color: '#1A1A1A', lineHeight: 1.6 }}&gt;① 同音字不分义：只记 zuò 的音，配哪个字全靠猜；② 形旁规律没掌握：形旁是字的「身份证」，标着它和什么有关。&lt;/Text&gt;       &lt;/Box&gt;       &lt;Box style={{ background: 'rgba(249,115,22,0.08)', borderRadius: 14, padding: '14px 18px' }}&gt;         &lt;Text style={{ fontSize: 18, fontWeight: 'bold', color: '#F97316' }}&gt;方法：字形想画面&lt;/Text&gt;         &lt;Text style={{ fontSize: 15, color: '#1A1A1A', lineHeight: 1.6, marginTop: 6 }}&gt;见到字先想偏旁画面：单人旁—人在做事；木字旁—树上长的；足字旁—脚在动。画面立住了，同音字跑错不了门。&lt;/Text&gt;       &lt;/Box&gt;       &lt;Box style={{ background: '#FFFFFF', borderRadius: 14, padding: '14px 18px', boxShadow: '0 2px 10px rgba(26,26,26,0.05)' }}&gt;         &lt;Text style={{ fontSize: 16, fontWeight: 'bold', color: '#0D9488' }}&gt;小试身手&lt;/Text&gt;         &lt;Text style={{ fontSize: 15, color: '#1A1A1A', lineHeight: 1.7, marginTop: 6 }}&gt;① 树（　）深，别乱（　）着走。&lt;br /&gt;② 我在写（　）业，请（　）下休息。&lt;/Text&gt;         &lt;Text style={{ fontSize: 14, color: '#0D9488', marginTop: 6 }}&gt;答案：① 根、跟　② 作、坐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11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03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语文模块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错别字：偏旁是字的身份证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66750" y="1276350"/>
            <a:ext cx="2933700" cy="1000125"/>
          </a:xfrm>
          <a:prstGeom prst="roundRect">
            <a:avLst>
              <a:gd name="adj" fmla="val 15238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38200" y="1409700"/>
            <a:ext cx="6096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97316"/>
                </a:solidFill>
                <a:latin typeface="Microsoft YaHei"/>
                <a:ea typeface="Microsoft YaHei"/>
              </a:rPr>
              <a:t>作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581150" y="158115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单人旁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人在做事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752850" y="1276350"/>
            <a:ext cx="2933700" cy="1000125"/>
          </a:xfrm>
          <a:prstGeom prst="roundRect">
            <a:avLst>
              <a:gd name="adj" fmla="val 15238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924300" y="1409700"/>
            <a:ext cx="6096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0D9488"/>
                </a:solidFill>
                <a:latin typeface="Microsoft YaHei"/>
                <a:ea typeface="Microsoft YaHei"/>
              </a:rPr>
              <a:t>坐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667250" y="15811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两人坐在土堆上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66750" y="3495675"/>
            <a:ext cx="2933700" cy="1000125"/>
          </a:xfrm>
          <a:prstGeom prst="roundRect">
            <a:avLst>
              <a:gd name="adj" fmla="val 15238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3629025"/>
            <a:ext cx="6096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97316"/>
                </a:solidFill>
                <a:latin typeface="Microsoft YaHei"/>
                <a:ea typeface="Microsoft YaHei"/>
              </a:rPr>
              <a:t>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581150" y="3800475"/>
            <a:ext cx="1400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木字旁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树根在树下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752850" y="3495675"/>
            <a:ext cx="2933700" cy="1000125"/>
          </a:xfrm>
          <a:prstGeom prst="roundRect">
            <a:avLst>
              <a:gd name="adj" fmla="val 15238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924300" y="3629025"/>
            <a:ext cx="6096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0D9488"/>
                </a:solidFill>
                <a:latin typeface="Microsoft YaHei"/>
                <a:ea typeface="Microsoft YaHei"/>
              </a:rPr>
              <a:t>跟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667250" y="3800475"/>
            <a:ext cx="1400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足字旁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用脚跟着走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66750" y="5705475"/>
            <a:ext cx="6019800" cy="447675"/>
          </a:xfrm>
          <a:prstGeom prst="roundRect">
            <a:avLst>
              <a:gd name="adj" fmla="val 25532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38200" y="5819775"/>
            <a:ext cx="567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做人做事单人作，两人坐土才是坐</a:t>
            </a: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 </a:t>
            </a: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／</a:t>
            </a: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 </a:t>
            </a: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树根有木，脚跟有足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067550" y="1276350"/>
            <a:ext cx="445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D9488"/>
                </a:solidFill>
                <a:latin typeface="Microsoft YaHei"/>
                <a:ea typeface="Microsoft YaHei"/>
              </a:rPr>
              <a:t>根因分析（</a:t>
            </a:r>
            <a:r>
              <a:rPr lang="en-US" sz="1350" b="1">
                <a:solidFill>
                  <a:srgbClr val="0D9488"/>
                </a:solidFill>
                <a:latin typeface="Microsoft YaHei"/>
                <a:ea typeface="Microsoft YaHei"/>
              </a:rPr>
              <a:t>DMAIC·A</a:t>
            </a:r>
            <a:r>
              <a:rPr lang="zh-CN" sz="1350" b="1">
                <a:solidFill>
                  <a:srgbClr val="0D948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067550" y="1581150"/>
            <a:ext cx="4457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①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同音字不分义：只记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zuò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的音，配哪个字全靠猜；②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形旁规律没掌握：形旁是字的「身份证」，标着它和什么有关。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067550" y="2962275"/>
            <a:ext cx="4457700" cy="1085850"/>
          </a:xfrm>
          <a:prstGeom prst="roundRect">
            <a:avLst>
              <a:gd name="adj" fmla="val 12281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239000" y="3095625"/>
            <a:ext cx="4114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97316"/>
                </a:solidFill>
                <a:latin typeface="Microsoft YaHei"/>
                <a:ea typeface="Microsoft YaHei"/>
              </a:rPr>
              <a:t>方法：字形想画面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239000" y="3362325"/>
            <a:ext cx="4114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见到字先想偏旁画面：单人旁—人在做事；木字旁—树上长的；足字旁—脚在动。画面立住了，同音字跑错不了门。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067550" y="4829175"/>
            <a:ext cx="445770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239000" y="4962525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D9488"/>
                </a:solidFill>
                <a:latin typeface="Microsoft YaHei"/>
                <a:ea typeface="Microsoft YaHei"/>
              </a:rPr>
              <a:t>小试身手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239000" y="5210175"/>
            <a:ext cx="41148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①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树（　）深，别乱（　）着走。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②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我在写（　）业，请（　）下休息。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239000" y="5857875"/>
            <a:ext cx="411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D9488"/>
                </a:solidFill>
                <a:latin typeface="Microsoft YaHei"/>
                <a:ea typeface="Microsoft YaHei"/>
              </a:rPr>
              <a:t>答案：①</a:t>
            </a:r>
            <a:r>
              <a:rPr lang="en-US" sz="1050">
                <a:solidFill>
                  <a:srgbClr val="0D948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0D9488"/>
                </a:solidFill>
                <a:latin typeface="Microsoft YaHei"/>
                <a:ea typeface="Microsoft YaHei"/>
              </a:rPr>
              <a:t>根、跟　②</a:t>
            </a:r>
            <a:r>
              <a:rPr lang="en-US" sz="1050">
                <a:solidFill>
                  <a:srgbClr val="0D948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0D9488"/>
                </a:solidFill>
                <a:latin typeface="Microsoft YaHei"/>
                <a:ea typeface="Microsoft YaHei"/>
              </a:rPr>
              <a:t>作、坐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058400" y="5905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根因：只记读音不记字义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581150" y="180975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作家</a:t>
            </a:r>
            <a:r>
              <a:rPr lang="en-US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工作</a:t>
            </a:r>
            <a:r>
              <a:rPr lang="en-US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作业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667250" y="18097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坐下</a:t>
            </a:r>
            <a:r>
              <a:rPr lang="en-US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坐好</a:t>
            </a:r>
            <a:r>
              <a:rPr lang="en-US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乘坐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581150" y="4029075"/>
            <a:ext cx="1400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树根</a:t>
            </a:r>
            <a:r>
              <a:rPr lang="en-US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根源</a:t>
            </a:r>
            <a:r>
              <a:rPr lang="en-US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根本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667250" y="4029075"/>
            <a:ext cx="1400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跟随</a:t>
            </a:r>
            <a:r>
              <a:rPr lang="en-US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脚跟</a:t>
            </a:r>
            <a:r>
              <a:rPr lang="en-US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跟从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11 / 28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57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3 语文模块&lt;/Text&gt;       &lt;Text style={{ fontSize: 34, fontWeight: 'bold', color: '#1A1A1A' }}&gt;错别字：六道实战题&lt;/Text&gt;     &lt;/Box&gt;     &lt;Text style={{ fontSize: 14, color: '#1A1A1A', opacity: 0.55 }}&gt;先想偏旁画面，再落笔&lt;/Text&gt;   &lt;/Box&gt;   &lt;Box style={{ width: 1280, height: 540, padding: '12px 70px', flexDirection: 'row', gap: 36 }}&gt;     &lt;Box style={{ width: 300, display: 'flex', flexDirection: 'column', justifyContent: 'space-between' }}&gt;       &lt;Text style={{ fontSize: 26, fontWeight: 'bold', color: '#1A1A1A', lineHeight: 1.4 }}&gt;根因回顾：&lt;br /&gt;只记读音、&lt;br /&gt;不记偏旁画面。&lt;br /&gt;今天 6 道题把它治住。&lt;/Text&gt;       &lt;Box style={{ background: '#F97316', borderRadius: 14, padding: '16px 18px' }}&gt;         &lt;Text style={{ fontSize: 17, fontWeight: 'bold', color: '#FAF7F2', lineHeight: 1.6 }}&gt;做题口诀&lt;br /&gt;先想偏旁画面，再落笔。&lt;/Text&gt;       &lt;/Box&gt;       &lt;Text style={{ fontSize: 14, color: '#1A1A1A', opacity: 0.6, lineHeight: 1.6 }}&gt;做完一题划掉一题，&lt;br /&gt;全对再收工。&lt;/Text&gt;     &lt;/Box&gt;     &lt;Box style={{ flex: 1, display: 'flex', flexDirection: 'row', flexWrap: 'wrap', gap: 12, alignContent: 'space-between' }}&gt;       {[         { n: '① 选字填空', q: '（作/坐）：（ ）业、（ ）下、（ ）家、（ ）车、合（ ）、（ ）用', a: '作业、坐下、作家、坐车、合作、作用' },         { n: '② 短文改错', q: '「我跟本没想到，哥哥竟安安静静地坐了一上午作业，妈妈夸他近步很大，哥哥笑着说：我要在接再厉！」藏 4 个错别字', a: '跟→根、坐作→做作、近→进、在→再' },         { n: '③ 偏旁分类', q: '给「根、跟、很、恨」送回家，并说理由', a: '木—根（树木）｜足—跟（脚）｜忄—恨（心情）｜彳—很（程度）' },         { n: '④ 编口诀', q: '用「字形想画面」给「晴、睛、请」编一句口诀', a: '有日天气晴，有目是眼睛，有言把人请' },         { n: '⑤ 听写自查', q: '家长报 4 词：作者、树根、跟随、现在。圈出没把握的字→想画面→翻书订正', a: '作者（亻）、树根（木）、跟随（⻊）、现在（表时间）' },         { n: '⑥ 的地得', q: '他跑（　）真快。／他慢慢（　）走过来。／他（　）铅笔盒不见了。', a: '得、地、的——名词前白勺的，动词前土也地，动作后双人得' },       ].map((t, i) =&gt; (         &lt;Box key={i} style={{ width: '48.2%', height: '31.5%', background: '#FFFFFF', borderRadius: 12, padding: '10px 14px', boxShadow: '0 2px 8px rgba(26,26,26,0.05)', display: 'flex', flexDirection: 'column' }}&gt;           &lt;Text style={{ fontSize: 15, fontWeight: 'bold', color: '#F97316' }}&gt;{t.n}&lt;/Text&gt;           &lt;Text style={{ fontSize: 13.5, color: '#1A1A1A', lineHeight: 1.5, marginTop: 4, flex: 1 }}&gt;{t.q}&lt;/Text&gt;           &lt;Text style={{ fontSize: 13, color: '#0D9488', lineHeight: 1.4 }}&gt;&lt;span style={{ fontWeight: 'bold' }}&gt;答案：&lt;/span&gt;{t.a}&lt;/Text&gt;         &lt;/Box&gt;       ))}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12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03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语文模块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错别字：六道实战题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66750" y="1257300"/>
            <a:ext cx="2857500" cy="16668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根因回顾：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只记读音、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不记偏旁画面。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今天</a:t>
            </a:r>
            <a:r>
              <a:rPr lang="en-US" sz="1950" b="1">
                <a:solidFill>
                  <a:srgbClr val="1A1A1A"/>
                </a:solidFill>
                <a:latin typeface="Microsoft YaHei"/>
                <a:ea typeface="Microsoft YaHei"/>
              </a:rPr>
              <a:t> 6 </a:t>
            </a: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道题把它治住。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66750" y="3829050"/>
            <a:ext cx="2857500" cy="93345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38200" y="3981450"/>
            <a:ext cx="2514600" cy="628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做题口诀</a:t>
            </a:r>
            <a:endParaRPr/>
          </a:p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FAF7F2"/>
                </a:solidFill>
                <a:latin typeface="Microsoft YaHei"/>
                <a:ea typeface="Microsoft YaHei"/>
              </a:rPr>
              <a:t>先想偏旁画面，再落笔。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3867150" y="1257300"/>
            <a:ext cx="3695700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000500" y="135255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97316"/>
                </a:solidFill>
                <a:latin typeface="Microsoft YaHei"/>
                <a:ea typeface="Microsoft YaHei"/>
              </a:rPr>
              <a:t>① </a:t>
            </a:r>
            <a:r>
              <a:rPr lang="zh-CN" sz="1125" b="1">
                <a:solidFill>
                  <a:srgbClr val="F97316"/>
                </a:solidFill>
                <a:latin typeface="Microsoft YaHei"/>
                <a:ea typeface="Microsoft YaHei"/>
              </a:rPr>
              <a:t>选字填空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000500" y="1562100"/>
            <a:ext cx="3429000" cy="942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（作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坐）：（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）业、（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）下、（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）家、（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）车、合（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）、（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）用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000500" y="2505075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0D9488"/>
                </a:solidFill>
                <a:latin typeface="Microsoft YaHei"/>
                <a:ea typeface="Microsoft YaHei"/>
              </a:rPr>
              <a:t>答案：</a:t>
            </a:r>
            <a:r>
              <a:rPr lang="zh-CN" sz="975">
                <a:solidFill>
                  <a:srgbClr val="0D9488"/>
                </a:solidFill>
                <a:latin typeface="Microsoft YaHei"/>
                <a:ea typeface="Microsoft YaHei"/>
              </a:rPr>
              <a:t>作业、坐下、作家、坐车、合作、作用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7677150" y="1257300"/>
            <a:ext cx="3686175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810500" y="1352550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97316"/>
                </a:solidFill>
                <a:latin typeface="Microsoft YaHei"/>
                <a:ea typeface="Microsoft YaHei"/>
              </a:rPr>
              <a:t>② </a:t>
            </a:r>
            <a:r>
              <a:rPr lang="zh-CN" sz="1125" b="1">
                <a:solidFill>
                  <a:srgbClr val="F97316"/>
                </a:solidFill>
                <a:latin typeface="Microsoft YaHei"/>
                <a:ea typeface="Microsoft YaHei"/>
              </a:rPr>
              <a:t>短文改错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810500" y="1562100"/>
            <a:ext cx="3419475" cy="942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「我跟本没想到，哥哥竟安安静静地坐了一上午作业，妈妈夸他近步很大，哥哥笑着说：我要在接再厉！」藏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个错别字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810500" y="2505075"/>
            <a:ext cx="34194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0D9488"/>
                </a:solidFill>
                <a:latin typeface="Microsoft YaHei"/>
                <a:ea typeface="Microsoft YaHei"/>
              </a:rPr>
              <a:t>答案：</a:t>
            </a:r>
            <a:r>
              <a:rPr lang="zh-CN" sz="975">
                <a:solidFill>
                  <a:srgbClr val="0D9488"/>
                </a:solidFill>
                <a:latin typeface="Microsoft YaHei"/>
                <a:ea typeface="Microsoft YaHei"/>
              </a:rPr>
              <a:t>跟→根、坐作→做作、近→进、在→再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3867150" y="2933700"/>
            <a:ext cx="3695700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000500" y="302895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97316"/>
                </a:solidFill>
                <a:latin typeface="Microsoft YaHei"/>
                <a:ea typeface="Microsoft YaHei"/>
              </a:rPr>
              <a:t>③ </a:t>
            </a:r>
            <a:r>
              <a:rPr lang="zh-CN" sz="1125" b="1">
                <a:solidFill>
                  <a:srgbClr val="F97316"/>
                </a:solidFill>
                <a:latin typeface="Microsoft YaHei"/>
                <a:ea typeface="Microsoft YaHei"/>
              </a:rPr>
              <a:t>偏旁分类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000500" y="3238500"/>
            <a:ext cx="3429000" cy="7334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给「根、跟、很、恨」送回家，并说理由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000500" y="3971925"/>
            <a:ext cx="34290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0D9488"/>
                </a:solidFill>
                <a:latin typeface="Microsoft YaHei"/>
                <a:ea typeface="Microsoft YaHei"/>
              </a:rPr>
              <a:t>答案：</a:t>
            </a:r>
            <a:r>
              <a:rPr lang="zh-CN" sz="975">
                <a:solidFill>
                  <a:srgbClr val="0D9488"/>
                </a:solidFill>
                <a:latin typeface="Microsoft YaHei"/>
                <a:ea typeface="Microsoft YaHei"/>
              </a:rPr>
              <a:t>木—根（树木）｜足—跟（脚）｜忄—恨（心情）｜彳—很（程度）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7677150" y="2933700"/>
            <a:ext cx="3686175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810500" y="3028950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97316"/>
                </a:solidFill>
                <a:latin typeface="Microsoft YaHei"/>
                <a:ea typeface="Microsoft YaHei"/>
              </a:rPr>
              <a:t>④ </a:t>
            </a:r>
            <a:r>
              <a:rPr lang="zh-CN" sz="1125" b="1">
                <a:solidFill>
                  <a:srgbClr val="F97316"/>
                </a:solidFill>
                <a:latin typeface="Microsoft YaHei"/>
                <a:ea typeface="Microsoft YaHei"/>
              </a:rPr>
              <a:t>编口诀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810500" y="3238500"/>
            <a:ext cx="3419475" cy="9429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用「字形想画面」给「晴、睛、请」编一句口诀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810500" y="4181475"/>
            <a:ext cx="34194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0D9488"/>
                </a:solidFill>
                <a:latin typeface="Microsoft YaHei"/>
                <a:ea typeface="Microsoft YaHei"/>
              </a:rPr>
              <a:t>答案：</a:t>
            </a:r>
            <a:r>
              <a:rPr lang="zh-CN" sz="975">
                <a:solidFill>
                  <a:srgbClr val="0D9488"/>
                </a:solidFill>
                <a:latin typeface="Microsoft YaHei"/>
                <a:ea typeface="Microsoft YaHei"/>
              </a:rPr>
              <a:t>有日天气晴，有目是眼睛，有言把人请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867150" y="4610100"/>
            <a:ext cx="3695700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000500" y="470535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97316"/>
                </a:solidFill>
                <a:latin typeface="Microsoft YaHei"/>
                <a:ea typeface="Microsoft YaHei"/>
              </a:rPr>
              <a:t>⑤ </a:t>
            </a:r>
            <a:r>
              <a:rPr lang="zh-CN" sz="1125" b="1">
                <a:solidFill>
                  <a:srgbClr val="F97316"/>
                </a:solidFill>
                <a:latin typeface="Microsoft YaHei"/>
                <a:ea typeface="Microsoft YaHei"/>
              </a:rPr>
              <a:t>听写自查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000500" y="4914900"/>
            <a:ext cx="34290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家长报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词：作者、树根、跟随、现在。圈出没把握的字→想画面→翻书订正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000500" y="5648325"/>
            <a:ext cx="34290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0D9488"/>
                </a:solidFill>
                <a:latin typeface="Microsoft YaHei"/>
                <a:ea typeface="Microsoft YaHei"/>
              </a:rPr>
              <a:t>答案：</a:t>
            </a:r>
            <a:r>
              <a:rPr lang="zh-CN" sz="975">
                <a:solidFill>
                  <a:srgbClr val="0D9488"/>
                </a:solidFill>
                <a:latin typeface="Microsoft YaHei"/>
                <a:ea typeface="Microsoft YaHei"/>
              </a:rPr>
              <a:t>作者（亻）、树根（木）、跟随（⻊）、现在（表时间）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677150" y="4610100"/>
            <a:ext cx="3686175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810500" y="4705350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97316"/>
                </a:solidFill>
                <a:latin typeface="Microsoft YaHei"/>
                <a:ea typeface="Microsoft YaHei"/>
              </a:rPr>
              <a:t>⑥ </a:t>
            </a:r>
            <a:r>
              <a:rPr lang="zh-CN" sz="1125" b="1">
                <a:solidFill>
                  <a:srgbClr val="F97316"/>
                </a:solidFill>
                <a:latin typeface="Microsoft YaHei"/>
                <a:ea typeface="Microsoft YaHei"/>
              </a:rPr>
              <a:t>的地得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810500" y="4914900"/>
            <a:ext cx="3419475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他跑（　）真快。／他慢慢（　）走过来。／他（　）铅笔盒不见了。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810500" y="5648325"/>
            <a:ext cx="34194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0D9488"/>
                </a:solidFill>
                <a:latin typeface="Microsoft YaHei"/>
                <a:ea typeface="Microsoft YaHei"/>
              </a:rPr>
              <a:t>答案：</a:t>
            </a:r>
            <a:r>
              <a:rPr lang="zh-CN" sz="975">
                <a:solidFill>
                  <a:srgbClr val="0D9488"/>
                </a:solidFill>
                <a:latin typeface="Microsoft YaHei"/>
                <a:ea typeface="Microsoft YaHei"/>
              </a:rPr>
              <a:t>得、地、的——名词前白勺的，动词前土也地，动作后双人得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0191750" y="5905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先想偏旁画面，再落笔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66750" y="5657850"/>
            <a:ext cx="28575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>
                    <a:alpha val="60000"/>
                  </a:srgbClr>
                </a:solidFill>
                <a:latin typeface="Microsoft YaHei"/>
                <a:ea typeface="Microsoft YaHei"/>
              </a:rPr>
              <a:t>做完一题划掉一题，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>
                    <a:alpha val="60000"/>
                  </a:srgbClr>
                </a:solidFill>
                <a:latin typeface="Microsoft YaHei"/>
                <a:ea typeface="Microsoft YaHei"/>
              </a:rPr>
              <a:t>全对再收工。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12 / 28</a:t>
            </a:r>
            <a:endParaRPr/>
          </a:p>
        </p:txBody>
      </p:sp>
    </p:spTree>
  </p:cSld>
</p:sld>
</file>

<file path=ppt/slides/slide13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94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3 语文模块&lt;/Text&gt;       &lt;Text style={{ fontSize: 34, fontWeight: 'bold', color: '#1A1A1A' }}&gt;答题别「聊天」：书面语升级&lt;/Text&gt;     &lt;/Box&gt;     &lt;Text style={{ fontSize: 14, color: '#1A1A1A', opacity: 0.55 }}&gt;口语是居家服，书面语是校服&lt;/Text&gt;   &lt;/Box&gt;   &lt;Box style={{ width: 1280, height: 540, padding: '12px 70px', flexDirection: 'row', gap: 36 }}&gt;     &lt;Box style={{ flex: 1, display: 'flex', flexDirection: 'column', justifyContent: 'space-between' }}&gt;       &lt;Table         style={{ width: '100%', height: 300 }}         defaultTextStyle={{ fontSize: 15, textAlign: 'left', color: '#1A1A1A' }}         defaultCellStyle={{ border: { left: { width: 1, color: '#eee' }, right: { width: 1, color: '#eee' }, top: { width: 1, color: '#eee' }, bottom: { width: 1, color: '#eee' } }, padding: 6 }}         cells={[           [{ text: '口头语', textStyle: { bold: true, color: '#FAF7F2' }, cellStyle: { background: { color: '#F97316' } } }, { text: '书面语', textStyle: { bold: true, color: '#FAF7F2' }, cellStyle: { background: { color: '#F97316' } } }],           ['为啥', '为什么'],           ['我觉得吧', '我认为'],           ['超好 / 贼好', '非常好'],           ['好多', '很多'],           ['然后然后', '接着 / 随后'],           ['什么的', '等等'],         ]}       /&gt;       &lt;Text style={{ fontSize: 15, color: '#1A1A1A', opacity: 0.7, lineHeight: 1.55 }}&gt;根因：分不清口头语和书面语，肚子里又没有「答题句式」存货——只能照说话习惯写。&lt;/Text&gt;     &lt;/Box&gt;     &lt;Box style={{ flex: 1, display: 'flex', flexDirection: 'column', justifyContent: 'space-between' }}&gt;       &lt;Box style={{ flexDirection: 'row', gap: 10 }}&gt;         {['观点句：我的看法是……', '理由句：因为……可以看出……', '结论句：所以……'].map((s, i) =&gt; (           &lt;Box key={i} style={{ flex: 1, background: '#0D9488', borderRadius: 10, padding: '10px 12px' }}&gt;             &lt;Text style={{ fontSize: 14, fontWeight: 'bold', color: '#FAF7F2', lineHeight: 1.45 }}&gt;{s}&lt;/Text&gt;           &lt;/Box&gt;         ))}       &lt;/Box&gt;       &lt;Box style={{ background: '#FFFFFF', borderRadius: 14, padding: '14px 18px', boxShadow: '0 2px 10px rgba(26,26,26,0.05)' }}&gt;         &lt;Text style={{ fontSize: 15, fontWeight: 'bold', color: '#1A1A1A' }}&gt;题目：作者为什么说春天来了？&lt;/Text&gt;         &lt;Text style={{ fontSize: 14.5, color: '#1A1A1A', opacity: 0.75, lineHeight: 1.6, marginTop: 8 }}&gt;&lt;span style={{ fontWeight: 'bold', color: '#F97316' }}&gt;口语版：&lt;/span&gt;我觉得吧是因为好多花都开了，然后然后燕子也飞回来了，超好看的。&lt;/Text&gt;         &lt;Text style={{ fontSize: 14.5, color: '#1A1A1A', lineHeight: 1.6, marginTop: 8 }}&gt;&lt;span style={{ fontWeight: 'bold', color: '#0D9488' }}&gt;三件套版：&lt;/span&gt;我的看法是：作者从万物的变化中发现了春天。因为从文中「小草钻出来」「燕子飞来」可以看出，春天的信号一个接一个。所以作者说，春天来了。&lt;/Text&gt;       &lt;/Box&gt;       &lt;Box style={{ background: 'rgba(13,148,136,0.08)', borderRadius: 12, padding: '12px 16px' }}&gt;         &lt;Text style={{ fontSize: 14.5, color: '#1A1A1A', lineHeight: 1.6 }}&gt;&lt;span style={{ fontWeight: 'bold', color: '#0D9488' }}&gt;训练：&lt;/span&gt;① 改书面语：「这道题为啥错了？」「主人公贼勇敢」；② 用三件套答：《蟋蟀的住宅》为什么说住宅「真可以算是伟大的工程」？（工具简单，却挖出整洁干燥的住宅）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13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03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语文模块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答题别「聊天」：书面语升级</a:t>
            </a:r>
            <a:endParaRPr/>
          </a:p>
        </p:txBody>
      </p:sp>
      <p:graphicFrame>
        <p:nvGraphicFramePr>
          <p:cNvPr id="98" name=""/>
          <p:cNvGraphicFramePr/>
          <p:nvPr/>
        </p:nvGraphicFramePr>
        <p:xfrm rot="0" flipH="0" flipV="0">
          <a:off x="666750" y="1257300"/>
          <a:ext cx="5257800" cy="2857500"/>
        </p:xfrm>
        <a:graphic>
          <a:graphicData uri="http://schemas.openxmlformats.org/drawingml/2006/table">
            <a:tbl>
              <a:tblGrid>
                <a:gridCol w="2628900">
                  <a:extLst>
                    <a:ext uri="{9D8B030D-6E8A-4147-A177-3AD203B41FA5}">
                      <a16:colId val="1"/>
                    </a:ext>
                  </a:extLst>
                </a:gridCol>
                <a:gridCol w="2628900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4082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口头语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书面语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082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为啥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为什么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082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我觉得吧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我认为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082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超好 / 贼好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非常好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082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好多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很多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082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然后然后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接着 / 随后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082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什么的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等等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99" name=""/>
          <p:cNvSpPr/>
          <p:nvPr/>
        </p:nvSpPr>
        <p:spPr>
          <a:xfrm rot="0" flipH="0" flipV="0">
            <a:off x="6267450" y="1257300"/>
            <a:ext cx="1685925" cy="657225"/>
          </a:xfrm>
          <a:prstGeom prst="roundRect">
            <a:avLst>
              <a:gd name="adj" fmla="val 14493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381750" y="1352550"/>
            <a:ext cx="14573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FAF7F2"/>
                </a:solidFill>
                <a:latin typeface="Microsoft YaHei"/>
                <a:ea typeface="Microsoft YaHei"/>
              </a:rPr>
              <a:t>观点句：我的看法是……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8048625" y="1257300"/>
            <a:ext cx="1695450" cy="657225"/>
          </a:xfrm>
          <a:prstGeom prst="roundRect">
            <a:avLst>
              <a:gd name="adj" fmla="val 14493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162925" y="1352550"/>
            <a:ext cx="14668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FAF7F2"/>
                </a:solidFill>
                <a:latin typeface="Microsoft YaHei"/>
                <a:ea typeface="Microsoft YaHei"/>
              </a:rPr>
              <a:t>理由句：因为……可以看出……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9839325" y="1257300"/>
            <a:ext cx="1685925" cy="657225"/>
          </a:xfrm>
          <a:prstGeom prst="roundRect">
            <a:avLst>
              <a:gd name="adj" fmla="val 14493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953625" y="1352550"/>
            <a:ext cx="14573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FAF7F2"/>
                </a:solidFill>
                <a:latin typeface="Microsoft YaHei"/>
                <a:ea typeface="Microsoft YaHei"/>
              </a:rPr>
              <a:t>结论句：所以……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267450" y="2705100"/>
            <a:ext cx="5257800" cy="1657350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438900" y="283845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题目：作者为什么说春天来了？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438900" y="3429000"/>
            <a:ext cx="49149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0D9488"/>
                </a:solidFill>
                <a:latin typeface="Microsoft YaHei"/>
                <a:ea typeface="Microsoft YaHei"/>
              </a:rPr>
              <a:t>三件套版：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我的看法是：作者从万物的变化中发现了春天。因为从文中「小草钻出来」「燕子飞来」可以看出，春天的信号一个接一个。所以作者说，春天来了。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267450" y="5143500"/>
            <a:ext cx="5257800" cy="1028700"/>
          </a:xfrm>
          <a:prstGeom prst="roundRect">
            <a:avLst>
              <a:gd name="adj" fmla="val 11111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419850" y="5257800"/>
            <a:ext cx="49530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0D9488"/>
                </a:solidFill>
                <a:latin typeface="Microsoft YaHei"/>
                <a:ea typeface="Microsoft YaHei"/>
              </a:rPr>
              <a:t>训练：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①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改书面语：「这道题为啥错了？」「主人公贼勇敢」；②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用三件套答：《蟋蟀的住宅》为什么说住宅「真可以算是伟大的工程」？（工具简单，却挖出整洁干燥的住宅）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791700" y="59055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口语是居家服，书面语是校服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66750" y="5638800"/>
            <a:ext cx="5257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根因：分不清口头语和书面语，肚子里又没有「答题句式」存货——只能照说话习惯写。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438900" y="3086100"/>
            <a:ext cx="49149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F97316">
                    <a:alpha val="75000"/>
                  </a:srgbClr>
                </a:solidFill>
                <a:latin typeface="Microsoft YaHei"/>
                <a:ea typeface="Microsoft YaHei"/>
              </a:rPr>
              <a:t>口语版：</a:t>
            </a:r>
            <a:r>
              <a:rPr lang="zh-CN" sz="1088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我觉得吧是因为好多花都开了，然后然后燕子也飞回来了，超好看的。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13 / 28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17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3 语文模块&lt;/Text&gt;       &lt;Text style={{ fontSize: 34, fontWeight: 'bold', color: '#1A1A1A' }}&gt;作文有主线：五段式提纲&lt;/Text&gt;     &lt;/Box&gt;     &lt;Text style={{ fontSize: 14, color: '#1A1A1A', opacity: 0.55 }}&gt;先搭骨架，再填肉&lt;/Text&gt;   &lt;/Box&gt;   &lt;Box style={{ width: 1280, height: 540, padding: '14px 70px', display: 'flex', flexDirection: 'column', justifyContent: 'space-between' }}&gt;     &lt;Box style={{ flexDirection: 'row', alignItems: 'flex-end', justifyContent: 'space-between' }}&gt;       &lt;Box style={{ flexDirection: 'row', alignItems: 'flex-end', gap: 28 }}&gt;         {[           { ch: '凤', sub: '凤头 · 点题', d: '1~2 句开头，悬念/声音/提问式', c: '#F97316' },           { ch: '肚', sub: '猪肚 · 详写', d: '2~3 个事例，动作语言心理来两样', c: '#0D9488' },           { ch: '豹', sub: '豹尾 · 扣题', d: '扣题＋感受，和开头呼应', c: '#F97316' },         ].map((b, i) =&gt; (           &lt;Box key={i} style={{ flexDirection: 'row', alignItems: 'flex-end', gap: 10 }}&gt;             &lt;Text style={{ fontSize: 92, fontWeight: 'bold', color: b.c, lineHeight: 1 }}&gt;{b.ch}&lt;/Text&gt;             &lt;Box style={{ flexDirection: 'column', gap: 4, paddingBottom: 8 }}&gt;               &lt;Text style={{ fontSize: 20, fontWeight: 'bold', color: '#1A1A1A' }}&gt;{b.sub}&lt;/Text&gt;               &lt;Text style={{ fontSize: 14, color: '#1A1A1A', opacity: 0.65, width: 200 }}&gt;{b.d}&lt;/Text&gt;             &lt;/Box&gt;           &lt;/Box&gt;         ))}       &lt;/Box&gt;       &lt;Box style={{ background: '#1A1A1A', borderRadius: 14, padding: '14px 20px', width: 300 }}&gt;         &lt;Text style={{ fontSize: 16, fontWeight: 'bold', color: '#F97316' }}&gt;三问定主线&lt;/Text&gt;         &lt;Text style={{ fontSize: 14, color: '#FAF7F2', lineHeight: 1.6, marginTop: 6 }}&gt;写什么人／事？突出什么特点？选哪 2~3 个素材？三问答完，主线就有了。&lt;/Text&gt;       &lt;/Box&gt;     &lt;/Box&gt;     &lt;Box style={{ flexDirection: 'row', alignItems: 'center', gap: 8 }}&gt;       {['凤头：爸爸把我拽起来「走，爬梧桐山去！」', '猪肚① 详写：山腰想放弃，腿像灌铅', '猪肚② 略写：登顶，云在脚下飘', '猪肚③ 转折：回头望，山路是自己走完的', '豹尾：难忘的是没半途而废的自己'].map((s, i) =&gt; (         &lt;Box key={i} style={{ flexDirection: 'row', alignItems: 'center', flex: 1, gap: 8 }}&gt;           &lt;Box style={{ flex: 1, background: i === 0 || i === 4 ? '#F97316' : 'rgba(13,148,136,0.12)', borderRadius: 10, padding: '10px 10px' }}&gt;             &lt;Text style={{ fontSize: 13.5, color: i === 0 || i === 4 ? '#FAF7F2' : '#1A1A1A', fontWeight: 'bold', lineHeight: 1.45 }}&gt;{s}&lt;/Text&gt;           &lt;/Box&gt;           {i &lt; 4 &amp;&amp; &lt;Text style={{ fontSize: 16, fontWeight: 'bold', color: '#F97316' }}&gt;→&lt;/Text&gt;}         &lt;/Box&gt;       ))}     &lt;/Box&gt;     &lt;Box style={{ background: 'rgba(249,115,22,0.08)', borderRadius: 14, padding: '14px 20px', flexDirection: 'row', alignItems: 'center', gap: 18 }}&gt;       &lt;Text style={{ fontSize: 26, fontWeight: 'bold', color: '#F97316', whiteSpace: 'nowrap' }}&gt;先列提纲 5 分钟，写作快一半&lt;/Text&gt;       &lt;Text style={{ fontSize: 15, color: '#1A1A1A', lineHeight: 1.55 }}&gt;训练：① 给《我的好朋友》列五段式提纲（发烧送笔记详写＋跳绳夺冠略写＋吵架和好转折）；② 给「流水账」片段挑毛病：从早写到晚、每件一句、没有主线——用三问定主线改过来。&lt;/Text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14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03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语文模块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作文有主线：五段式提纲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66750" y="1276350"/>
            <a:ext cx="78105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900" b="1">
                <a:solidFill>
                  <a:srgbClr val="F97316"/>
                </a:solidFill>
                <a:latin typeface="Microsoft YaHei"/>
                <a:ea typeface="Microsoft YaHei"/>
              </a:rPr>
              <a:t>凤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543050" y="1828800"/>
            <a:ext cx="1704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凤头</a:t>
            </a:r>
            <a:r>
              <a:rPr lang="en-US" sz="150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点题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514725" y="1276350"/>
            <a:ext cx="78105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900" b="1">
                <a:solidFill>
                  <a:srgbClr val="0D9488"/>
                </a:solidFill>
                <a:latin typeface="Microsoft YaHei"/>
                <a:ea typeface="Microsoft YaHei"/>
              </a:rPr>
              <a:t>肚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391025" y="1666875"/>
            <a:ext cx="1704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猪肚</a:t>
            </a:r>
            <a:r>
              <a:rPr lang="en-US" sz="150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详写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362700" y="1276350"/>
            <a:ext cx="78105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900" b="1">
                <a:solidFill>
                  <a:srgbClr val="F97316"/>
                </a:solidFill>
                <a:latin typeface="Microsoft YaHei"/>
                <a:ea typeface="Microsoft YaHei"/>
              </a:rPr>
              <a:t>豹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239000" y="1828800"/>
            <a:ext cx="1704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豹尾</a:t>
            </a:r>
            <a:r>
              <a:rPr lang="en-US" sz="150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扣题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8943975" y="1304925"/>
            <a:ext cx="2857500" cy="1028700"/>
          </a:xfrm>
          <a:prstGeom prst="roundRect">
            <a:avLst>
              <a:gd name="adj" fmla="val 12963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134475" y="143827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三问定主线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134475" y="1685925"/>
            <a:ext cx="24765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AF7F2"/>
                </a:solidFill>
                <a:latin typeface="Microsoft YaHei"/>
                <a:ea typeface="Microsoft YaHei"/>
              </a:rPr>
              <a:t>写什么人／事？突出什么特点？选哪</a:t>
            </a:r>
            <a:r>
              <a:rPr lang="en-US" sz="1050">
                <a:solidFill>
                  <a:srgbClr val="FAF7F2"/>
                </a:solidFill>
                <a:latin typeface="Microsoft YaHei"/>
                <a:ea typeface="Microsoft YaHei"/>
              </a:rPr>
              <a:t> 2~3 </a:t>
            </a:r>
            <a:r>
              <a:rPr lang="zh-CN" sz="1050">
                <a:solidFill>
                  <a:srgbClr val="FAF7F2"/>
                </a:solidFill>
                <a:latin typeface="Microsoft YaHei"/>
                <a:ea typeface="Microsoft YaHei"/>
              </a:rPr>
              <a:t>个素材？三问答完，主线就有了。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66750" y="3524250"/>
            <a:ext cx="1885950" cy="638175"/>
          </a:xfrm>
          <a:prstGeom prst="roundRect">
            <a:avLst>
              <a:gd name="adj" fmla="val 14925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62000" y="3619500"/>
            <a:ext cx="16954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13" b="1">
                <a:solidFill>
                  <a:srgbClr val="FAF7F2"/>
                </a:solidFill>
                <a:latin typeface="Microsoft YaHei"/>
                <a:ea typeface="Microsoft YaHei"/>
              </a:rPr>
              <a:t>凤头：爸爸把我拽起来「走，爬梧桐山去！」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628900" y="37528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2857500" y="3524250"/>
            <a:ext cx="1876425" cy="638175"/>
          </a:xfrm>
          <a:prstGeom prst="roundRect">
            <a:avLst>
              <a:gd name="adj" fmla="val 14925"/>
            </a:avLst>
          </a:prstGeom>
          <a:solidFill>
            <a:srgbClr val="0D9488">
              <a:alpha val="12000"/>
            </a:srgbClr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2952750" y="3619500"/>
            <a:ext cx="16859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13" b="1">
                <a:solidFill>
                  <a:srgbClr val="1A1A1A"/>
                </a:solidFill>
                <a:latin typeface="Microsoft YaHei"/>
                <a:ea typeface="Microsoft YaHei"/>
              </a:rPr>
              <a:t>猪肚①</a:t>
            </a:r>
            <a:r>
              <a:rPr lang="en-US" sz="1013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13" b="1">
                <a:solidFill>
                  <a:srgbClr val="1A1A1A"/>
                </a:solidFill>
                <a:latin typeface="Microsoft YaHei"/>
                <a:ea typeface="Microsoft YaHei"/>
              </a:rPr>
              <a:t>详写：山腰想放弃，腿像灌铅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810125" y="37528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038725" y="3638550"/>
            <a:ext cx="1885950" cy="419100"/>
          </a:xfrm>
          <a:prstGeom prst="roundRect">
            <a:avLst>
              <a:gd name="adj" fmla="val 22727"/>
            </a:avLst>
          </a:prstGeom>
          <a:solidFill>
            <a:srgbClr val="0D9488">
              <a:alpha val="12000"/>
            </a:srgbClr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133975" y="3733800"/>
            <a:ext cx="16954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13" b="1">
                <a:solidFill>
                  <a:srgbClr val="1A1A1A"/>
                </a:solidFill>
                <a:latin typeface="Microsoft YaHei"/>
                <a:ea typeface="Microsoft YaHei"/>
              </a:rPr>
              <a:t>猪肚②</a:t>
            </a:r>
            <a:r>
              <a:rPr lang="en-US" sz="1013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13" b="1">
                <a:solidFill>
                  <a:srgbClr val="1A1A1A"/>
                </a:solidFill>
                <a:latin typeface="Microsoft YaHei"/>
                <a:ea typeface="Microsoft YaHei"/>
              </a:rPr>
              <a:t>略写：登顶，云在脚下飘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000875" y="37528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229475" y="3524250"/>
            <a:ext cx="1876425" cy="638175"/>
          </a:xfrm>
          <a:prstGeom prst="roundRect">
            <a:avLst>
              <a:gd name="adj" fmla="val 14925"/>
            </a:avLst>
          </a:prstGeom>
          <a:solidFill>
            <a:srgbClr val="0D9488">
              <a:alpha val="12000"/>
            </a:srgbClr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324725" y="3619500"/>
            <a:ext cx="16859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13" b="1">
                <a:solidFill>
                  <a:srgbClr val="1A1A1A"/>
                </a:solidFill>
                <a:latin typeface="Microsoft YaHei"/>
                <a:ea typeface="Microsoft YaHei"/>
              </a:rPr>
              <a:t>猪肚③</a:t>
            </a:r>
            <a:r>
              <a:rPr lang="en-US" sz="1013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13" b="1">
                <a:solidFill>
                  <a:srgbClr val="1A1A1A"/>
                </a:solidFill>
                <a:latin typeface="Microsoft YaHei"/>
                <a:ea typeface="Microsoft YaHei"/>
              </a:rPr>
              <a:t>转折：回头望，山路是自己走完的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182100" y="37528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9410700" y="3524250"/>
            <a:ext cx="2114550" cy="638175"/>
          </a:xfrm>
          <a:prstGeom prst="roundRect">
            <a:avLst>
              <a:gd name="adj" fmla="val 14925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505950" y="3619500"/>
            <a:ext cx="19240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13" b="1">
                <a:solidFill>
                  <a:srgbClr val="FAF7F2"/>
                </a:solidFill>
                <a:latin typeface="Microsoft YaHei"/>
                <a:ea typeface="Microsoft YaHei"/>
              </a:rPr>
              <a:t>豹尾：难忘的是没半途而废的自己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66750" y="5353050"/>
            <a:ext cx="10858500" cy="800100"/>
          </a:xfrm>
          <a:prstGeom prst="roundRect">
            <a:avLst>
              <a:gd name="adj" fmla="val 16667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57250" y="5600700"/>
            <a:ext cx="2438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97316"/>
                </a:solidFill>
                <a:latin typeface="Microsoft YaHei"/>
                <a:ea typeface="Microsoft YaHei"/>
              </a:rPr>
              <a:t>先列提纲</a:t>
            </a:r>
            <a:r>
              <a:rPr lang="en-US" sz="1950" b="1">
                <a:solidFill>
                  <a:srgbClr val="F97316"/>
                </a:solidFill>
                <a:latin typeface="Microsoft YaHei"/>
                <a:ea typeface="Microsoft YaHei"/>
              </a:rPr>
              <a:t> 5 </a:t>
            </a:r>
            <a:r>
              <a:rPr lang="zh-CN" sz="1950" b="1">
                <a:solidFill>
                  <a:srgbClr val="F97316"/>
                </a:solidFill>
                <a:latin typeface="Microsoft YaHei"/>
                <a:ea typeface="Microsoft YaHei"/>
              </a:rPr>
              <a:t>分钟，写作快一半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467100" y="5486400"/>
            <a:ext cx="78676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训练：①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给《我的好朋友》列五段式提纲（发烧送笔记详写＋跳绳夺冠略写＋吵架和好转折）；②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给「流水账」片段挑毛病：从早写到晚、每件一句、没有主线——用三问定主线改过来。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458450" y="5905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先搭骨架，再填肉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543050" y="20955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1~2 </a:t>
            </a:r>
            <a:r>
              <a:rPr lang="zh-CN" sz="1050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句开头，悬念</a:t>
            </a:r>
            <a:r>
              <a:rPr lang="en-US" sz="1050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声音</a:t>
            </a:r>
            <a:r>
              <a:rPr lang="en-US" sz="1050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提问式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391025" y="1933575"/>
            <a:ext cx="19050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2~3 </a:t>
            </a:r>
            <a:r>
              <a:rPr lang="zh-CN" sz="1050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个事例，动作语言心理来两样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239000" y="20955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65000"/>
                  </a:srgbClr>
                </a:solidFill>
                <a:latin typeface="Microsoft YaHei"/>
                <a:ea typeface="Microsoft YaHei"/>
              </a:rPr>
              <a:t>扣题＋感受，和开头呼应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14 / 28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 descr="&lt;Slide style={{ width: 1280, height: 720, background: '#1A1A1A', position: 'relative', overflow: 'hidden' }}&gt;   &lt;Image src=&quot;assets/sec_english.png&quot; style={{ position: 'absolute', top: 0, left: 0, width: 1280, height: 720, objectFit: 'cover' }} /&gt;   &lt;Box style={{ position: 'absolute', top: 0, left: 0, width: 1280, height: 720, background: 'linear-gradient(90deg, rgba(249,115,22,0.80) 0%, rgba(249,115,22,0.42) 52%, rgba(26,26,26,0.12) 100%)' }} /&gt;   &lt;Box style={{ position: 'absolute', top: 0, left: 0, width: 720, height: 720, padding: '0 0 0 90px', display: 'flex', flexDirection: 'column', justifyContent: 'center', gap: 24 }}&gt;     &lt;Text style={{ fontSize: 96, fontWeight: 'bold', color: '#FAF7F2', opacity: 0.35, lineHeight: 1 }}&gt;04&lt;/Text&gt;     &lt;Text style={{ fontSize: 64, fontWeight: 'bold', color: '#FAF7F2', letterSpacing: 6 }}&gt;英语模块&lt;/Text&gt;     &lt;Box style={{ width: 88, height: 6, background: '#0D9488', borderRadius: 3 }} /&gt;     &lt;Text style={{ fontSize: 24, color: '#FAF7F2', lineHeight: 1.6, opacity: 0.95 }}&gt;语境、单复数、模板卡——&lt;br /&gt;英语闯三关，关关有口诀。&lt;/Text&gt;   &lt;/Box&gt;   &lt;Box style={{ position: 'absolute', right: 70, bottom: 40 }}&gt;     &lt;Text style={{ fontSize: 14, color: '#FAF7F2', opacity: 0.7 }}&gt;15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pic>
        <p:nvPicPr>
          <p:cNvPr id="157" name=""/>
          <p:cNvPicPr>
            <a:picLocks noChangeAspect="1"/>
          </p:cNvPicPr>
          <p:nvPr/>
        </p:nvPicPr>
        <p:blipFill>
          <a:blip r:embed="rId1"/>
          <a:srcRect l="0" t="5927" r="0" b="5927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97316">
                  <a:alpha val="80000"/>
                </a:srgbClr>
              </a:gs>
              <a:gs pos="52000">
                <a:srgbClr val="F97316">
                  <a:alpha val="42000"/>
                </a:srgbClr>
              </a:gs>
              <a:gs pos="100000">
                <a:srgbClr val="1A1A1A">
                  <a:alpha val="1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60007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 spc="450">
                <a:solidFill>
                  <a:srgbClr val="FAF7F2"/>
                </a:solidFill>
                <a:latin typeface="Microsoft YaHei"/>
                <a:ea typeface="Microsoft YaHei"/>
              </a:rPr>
              <a:t>英语模块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857250" y="3990975"/>
            <a:ext cx="838200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57250" y="1695450"/>
            <a:ext cx="6000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AF7F2">
                    <a:alpha val="35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57250" y="4276725"/>
            <a:ext cx="6000750" cy="8858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语境、单复数、模板卡——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英语闯三关，关关有口诀。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11567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7F2">
                    <a:alpha val="70000"/>
                  </a:srgbClr>
                </a:solidFill>
                <a:latin typeface="Microsoft YaHei"/>
                <a:ea typeface="Microsoft YaHei"/>
              </a:rPr>
              <a:t>15 / 28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64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4 英语模块&lt;/Text&gt;       &lt;Text style={{ fontSize: 34, fontWeight: 'bold', color: '#1A1A1A' }}&gt;选择题：先看戏台，再听唱戏&lt;/Text&gt;     &lt;/Box&gt;     &lt;Text style={{ fontSize: 14, color: '#1A1A1A', opacity: 0.55 }}&gt;语境三步法&lt;/Text&gt;   &lt;/Box&gt;   &lt;Box style={{ width: 1280, height: 540, padding: '12px 70px', flexDirection: 'row', gap: 36 }}&gt;     &lt;Box style={{ flex: 1.25, display: 'flex', flexDirection: 'column', justifyContent: 'space-between' }}&gt;       &lt;Box style={{ background: '#FFFFFF', borderRadius: 14, padding: '14px 18px', boxShadow: '0 2px 10px rgba(26,26,26,0.05)' }}&gt;         &lt;Text style={{ fontSize: 17, color: '#1A1A1A', fontWeight: 'bold' }}&gt;— Would you like some tea?　— ____&lt;/Text&gt;         &lt;Text style={{ fontSize: 15, color: '#1A1A1A', opacity: 0.8, marginTop: 6 }}&gt;A. Yes, I do.　　B. Yes, please.　　C. I like tea.&lt;/Text&gt;         &lt;Box style={{ flexDirection: 'row', gap: 12, marginTop: 10 }}&gt;           &lt;Box style={{ flex: 1, background: 'rgba(26,26,26,0.05)', borderRadius: 10, padding: '8px 12px' }}&gt;             &lt;Text style={{ fontSize: 13.5, color: '#1A1A1A', opacity: 0.75, lineHeight: 1.5 }}&gt;&lt;span style={{ fontWeight: 'bold', color: '#F97316' }}&gt;✕ 错误思路：&lt;/span&gt;「一般疑问句用 do 回答」选 A——可人家没问你「做不做」。&lt;/Text&gt;           &lt;/Box&gt;           &lt;Box style={{ flex: 1, background: 'rgba(13,148,136,0.08)', borderRadius: 10, padding: '8px 12px' }}&gt;             &lt;Text style={{ fontSize: 13.5, color: '#1A1A1A', lineHeight: 1.5 }}&gt;&lt;span style={{ fontWeight: 'bold', color: '#0D9488' }}&gt;✓ 正确思路：&lt;/span&gt;场景是礼貌邀请喝茶，答「Yes, please.（好的，麻烦你了）」顺口又得体。&lt;/Text&gt;           &lt;/Box&gt;         &lt;/Box&gt;       &lt;/Box&gt;       &lt;Box style={{ flexDirection: 'row', gap: 10 }}&gt;         {[           { q: '— Where is the cat? — ____', o: 'A. Yes, it is.  B. It\'s under the bed.  C. It\'s a cat.', a: 'B（问地点，不问是非）' },           { q: '— What\'s the weather like? — ____', o: 'A. I like rain.  B. Yes, it is.  C. It\'s rainy.', a: 'C（回答天气怎么样）' },           { q: '— Would you like some rice? — ____', o: 'A. Yes, I do.  B. Yes, please.  C. I like rice.', a: 'B（礼貌提供食物）' },         ].map((t, i) =&gt; (           &lt;Box key={i} style={{ flex: 1, background: '#FFFFFF', borderRadius: 12, padding: '10px 12px', boxShadow: '0 2px 8px rgba(26,26,26,0.05)' }}&gt;             &lt;Text style={{ fontSize: 13, fontWeight: 'bold', color: '#1A1A1A', lineHeight: 1.4 }}&gt;{t.q}&lt;/Text&gt;             &lt;Text style={{ fontSize: 12, color: '#1A1A1A', opacity: 0.7, lineHeight: 1.5, marginTop: 4 }}&gt;{t.o}&lt;/Text&gt;             &lt;Text style={{ fontSize: 12.5, fontWeight: 'bold', color: '#0D9488', marginTop: 4 }}&gt;{t.a}&lt;/Text&gt;           &lt;/Box&gt;         ))}       &lt;/Box&gt;     &lt;/Box&gt;     &lt;Box style={{ flex: 0.8, display: 'flex', flexDirection: 'column', justifyContent: 'space-between' }}&gt;       &lt;Text style={{ fontSize: 16, color: '#1A1A1A', opacity: 0.75, lineHeight: 1.6 }}&gt;根因：把选择题当语法填空做，只套规则不看语境；逐题孤立作答。&lt;/Text&gt;       {[         { n: '第一步 · 通读', d: '整段读一遍，找场景词：at the restaurant / in the classroom', k: '先看戏台' },         { n: '第二步 · 锁定', d: '圈空格前后关键词：问 what/where/when？什么时态？', k: '关键词是路标' },         { n: '第三步 · 验证', d: '选项代入读一遍，「顺口＋合理」才选', k: '读得顺才是对' },       ].map((s, i) =&gt; (         &lt;Box key={i} style={{ background: 'rgba(13,148,136,0.08)', borderRadius: 12, padding: '12px 16px' }}&gt;           &lt;Box style={{ flexDirection: 'row', justifyContent: 'space-between', alignItems: 'center' }}&gt;             &lt;Text style={{ fontSize: 17, fontWeight: 'bold', color: '#0D9488' }}&gt;{s.n}&lt;/Text&gt;             &lt;Text style={{ fontSize: 13, fontWeight: 'bold', color: '#F97316' }}&gt;{s.k}&lt;/Text&gt;           &lt;/Box&gt;           &lt;Text style={{ fontSize: 14, color: '#1A1A1A', lineHeight: 1.5, marginTop: 4 }}&gt;{s.d}&lt;/Text&gt;         &lt;/Box&gt;       ))}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16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04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英语模块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选择题：先看戏台，再听唱戏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66750" y="1257300"/>
            <a:ext cx="6410325" cy="1409700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38200" y="1390650"/>
            <a:ext cx="606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>— Would you like some tea?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　—</a:t>
            </a: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> ____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38200" y="1914525"/>
            <a:ext cx="2981325" cy="619125"/>
          </a:xfrm>
          <a:prstGeom prst="roundRect">
            <a:avLst>
              <a:gd name="adj" fmla="val 15385"/>
            </a:avLst>
          </a:prstGeom>
          <a:solidFill>
            <a:srgbClr val="1A1A1A">
              <a:alpha val="5000"/>
            </a:srgbClr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3933825" y="1914525"/>
            <a:ext cx="2971800" cy="619125"/>
          </a:xfrm>
          <a:prstGeom prst="roundRect">
            <a:avLst>
              <a:gd name="adj" fmla="val 15385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048125" y="1990725"/>
            <a:ext cx="2743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 b="1">
                <a:solidFill>
                  <a:srgbClr val="0D9488"/>
                </a:solidFill>
                <a:latin typeface="Microsoft YaHei"/>
                <a:ea typeface="Microsoft YaHei"/>
              </a:rPr>
              <a:t>✓ </a:t>
            </a: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正确思路：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场景是礼貌邀请喝茶，答「</a:t>
            </a:r>
            <a:r>
              <a:rPr lang="en-US" sz="1013">
                <a:solidFill>
                  <a:srgbClr val="1A1A1A"/>
                </a:solidFill>
                <a:latin typeface="Microsoft YaHei"/>
                <a:ea typeface="Microsoft YaHei"/>
              </a:rPr>
              <a:t>Yes, please.</a:t>
            </a:r>
            <a:r>
              <a:rPr lang="zh-CN" sz="1013">
                <a:solidFill>
                  <a:srgbClr val="1A1A1A"/>
                </a:solidFill>
                <a:latin typeface="Microsoft YaHei"/>
                <a:ea typeface="Microsoft YaHei"/>
              </a:rPr>
              <a:t>（好的，麻烦你了）」顺口又得体。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66750" y="4924425"/>
            <a:ext cx="2076450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81050" y="5019675"/>
            <a:ext cx="1847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— Where is the cat? — ____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81050" y="5724525"/>
            <a:ext cx="184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D9488"/>
                </a:solidFill>
                <a:latin typeface="Microsoft YaHei"/>
                <a:ea typeface="Microsoft YaHei"/>
              </a:rPr>
              <a:t>B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（问地点，不问是非）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2838450" y="4924425"/>
            <a:ext cx="2066925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2952750" y="5019675"/>
            <a:ext cx="18383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— What's the weather like? — ____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2952750" y="5934075"/>
            <a:ext cx="1838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D9488"/>
                </a:solidFill>
                <a:latin typeface="Microsoft YaHei"/>
                <a:ea typeface="Microsoft YaHei"/>
              </a:rPr>
              <a:t>C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（回答天气怎么样）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000625" y="4924425"/>
            <a:ext cx="2076450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114925" y="5019675"/>
            <a:ext cx="18478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— Would you like some rice? — ____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114925" y="5934075"/>
            <a:ext cx="184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D9488"/>
                </a:solidFill>
                <a:latin typeface="Microsoft YaHei"/>
                <a:ea typeface="Microsoft YaHei"/>
              </a:rPr>
              <a:t>B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（礼貌提供食物）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7419975" y="2571750"/>
            <a:ext cx="4105275" cy="714375"/>
          </a:xfrm>
          <a:prstGeom prst="roundRect">
            <a:avLst>
              <a:gd name="adj" fmla="val 16000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572375" y="2686050"/>
            <a:ext cx="962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D9488"/>
                </a:solidFill>
                <a:latin typeface="Microsoft YaHei"/>
                <a:ea typeface="Microsoft YaHei"/>
              </a:rPr>
              <a:t>第一步</a:t>
            </a:r>
            <a:r>
              <a:rPr lang="en-US" sz="1275" b="1">
                <a:solidFill>
                  <a:srgbClr val="0D948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0D9488"/>
                </a:solidFill>
                <a:latin typeface="Microsoft YaHei"/>
                <a:ea typeface="Microsoft YaHei"/>
              </a:rPr>
              <a:t>通读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0877550" y="27146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先看戏台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572375" y="2924175"/>
            <a:ext cx="38004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整段读一遍，找场景词：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at the restaurant / in the classroom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419975" y="4019550"/>
            <a:ext cx="4105275" cy="714375"/>
          </a:xfrm>
          <a:prstGeom prst="roundRect">
            <a:avLst>
              <a:gd name="adj" fmla="val 16000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572375" y="4133850"/>
            <a:ext cx="962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D9488"/>
                </a:solidFill>
                <a:latin typeface="Microsoft YaHei"/>
                <a:ea typeface="Microsoft YaHei"/>
              </a:rPr>
              <a:t>第二步</a:t>
            </a:r>
            <a:r>
              <a:rPr lang="en-US" sz="1275" b="1">
                <a:solidFill>
                  <a:srgbClr val="0D948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0D9488"/>
                </a:solidFill>
                <a:latin typeface="Microsoft YaHei"/>
                <a:ea typeface="Microsoft YaHei"/>
              </a:rPr>
              <a:t>锁定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629900" y="41624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关键词是路标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7572375" y="4371975"/>
            <a:ext cx="38004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圈空格前后关键词：问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what/where/when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？什么时态？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7419975" y="5457825"/>
            <a:ext cx="4105275" cy="714375"/>
          </a:xfrm>
          <a:prstGeom prst="roundRect">
            <a:avLst>
              <a:gd name="adj" fmla="val 16000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572375" y="5572125"/>
            <a:ext cx="962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D9488"/>
                </a:solidFill>
                <a:latin typeface="Microsoft YaHei"/>
                <a:ea typeface="Microsoft YaHei"/>
              </a:rPr>
              <a:t>第三步</a:t>
            </a:r>
            <a:r>
              <a:rPr lang="en-US" sz="1275" b="1">
                <a:solidFill>
                  <a:srgbClr val="0D948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0D9488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0629900" y="56007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读得顺才是对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572375" y="5810250"/>
            <a:ext cx="38004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选项代入读一遍，「顺口＋合理」才选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858500" y="5905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语境三步法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8200" y="1647825"/>
            <a:ext cx="6067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A. Yes, I do.</a:t>
            </a:r>
            <a:r>
              <a:rPr lang="zh-CN" sz="1125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B. Yes, please.</a:t>
            </a:r>
            <a:r>
              <a:rPr lang="zh-CN" sz="1125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C. I like tea.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52500" y="1990725"/>
            <a:ext cx="27527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 b="1">
                <a:solidFill>
                  <a:srgbClr val="F97316">
                    <a:alpha val="75000"/>
                  </a:srgbClr>
                </a:solidFill>
                <a:latin typeface="Microsoft YaHei"/>
                <a:ea typeface="Microsoft YaHei"/>
              </a:rPr>
              <a:t>✕ </a:t>
            </a:r>
            <a:r>
              <a:rPr lang="zh-CN" sz="1013" b="1">
                <a:solidFill>
                  <a:srgbClr val="F97316">
                    <a:alpha val="75000"/>
                  </a:srgbClr>
                </a:solidFill>
                <a:latin typeface="Microsoft YaHei"/>
                <a:ea typeface="Microsoft YaHei"/>
              </a:rPr>
              <a:t>错误思路：</a:t>
            </a:r>
            <a:r>
              <a:rPr lang="zh-CN" sz="1013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「一般疑问句用</a:t>
            </a:r>
            <a:r>
              <a:rPr lang="en-US" sz="1013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 do </a:t>
            </a:r>
            <a:r>
              <a:rPr lang="zh-CN" sz="1013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回答」选</a:t>
            </a:r>
            <a:r>
              <a:rPr lang="en-US" sz="1013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 A——</a:t>
            </a:r>
            <a:r>
              <a:rPr lang="zh-CN" sz="1013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可人家没问你「做不做」。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81050" y="5267325"/>
            <a:ext cx="18478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A. Yes, it is.  B. It's under the bed.  C. It's a cat.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2952750" y="5476875"/>
            <a:ext cx="18383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A. I like rain.  B. Yes, it is.  C. It's rainy.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114925" y="5476875"/>
            <a:ext cx="18478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A. Yes, I do.  B. Yes, please.  C. I like rice.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419975" y="1257300"/>
            <a:ext cx="41052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根因：把选择题当语法填空做，只套规则不看语境；逐题孤立作答。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16 / 28</a:t>
            </a:r>
            <a:endParaRPr/>
          </a:p>
        </p:txBody>
      </p:sp>
    </p:spTree>
  </p:cSld>
</p:sld>
</file>

<file path=ppt/slides/slide17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205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4 英语模块&lt;/Text&gt;       &lt;Text style={{ fontSize: 34, fontWeight: 'bold', color: '#1A1A1A' }}&gt;填空题：单复数，信号词说了算&lt;/Text&gt;     &lt;/Box&gt;     &lt;Text style={{ fontSize: 14, color: '#1A1A1A', opacity: 0.55 }}&gt;中文没复数，英文必须有&lt;/Text&gt;   &lt;/Box&gt;   &lt;Box style={{ width: 1280, height: 540, padding: '12px 70px', flexDirection: 'row', gap: 36 }}&gt;     &lt;Box style={{ flex: 1.15, flexDirection: 'column', gap: 12 }}&gt;       &lt;Table         style={{ width: '100%', height: 196 }}         defaultTextStyle={{ fontSize: 14.5, textAlign: 'left', color: '#1A1A1A' }}         defaultCellStyle={{ border: { left: { width: 1, color: '#eee' }, right: { width: 1, color: '#eee' }, top: { width: 1, color: '#eee' }, bottom: { width: 1, color: '#eee' } }, padding: 5 }}         cells={[           [{ text: '看到……', textStyle: { bold: true, color: '#FAF7F2' }, cellStyle: { background: { color: '#0D9488' } } }, { text: '名词就用……', textStyle: { bold: true, color: '#FAF7F2' }, cellStyle: { background: { color: '#0D9488' } } }, { text: '例子', textStyle: { bold: true, color: '#FAF7F2' }, cellStyle: { background: { color: '#0D9488' } } }],           ['a / an / one / this / that', '单数', 'a book'],           ['two, three…数字 / many / these / those / how many', '复数', 'many books'],           [{ text: 'some / a lot of', cellStyle: { background: { color: 'rgba(249,115,22,0.10)' } } }, { text: '复数可数 或 不可数', textStyle: { bold: true, color: '#F97316' }, cellStyle: { background: { color: 'rgba(249,115,22,0.10)' } } }, { text: 'some books / some water', cellStyle: { background: { color: 'rgba(249,115,22,0.10)' } } }],           ['There is / There are', 'is 配单数或不可数，are 配复数', 'There are two cats.'],         ]}       /&gt;       &lt;Box style={{ flex: 1, background: '#FFFFFF', borderRadius: 14, padding: '12px 18px', boxShadow: '0 2px 10px rgba(26,26,26,0.05)' }}&gt;         &lt;Text style={{ fontSize: 15, fontWeight: 'bold', color: '#F97316' }}&gt;案例：There ___ (be) three ___ (box) on the desk.&lt;/Text&gt;         &lt;Text style={{ fontSize: 14, color: '#1A1A1A', lineHeight: 1.6, marginTop: 6 }}&gt;圈信号词 &lt;span style={{ fontWeight: 'bold', color: '#F97316' }}&gt;three&lt;/span&gt; → 复数 → &lt;span style={{ fontWeight: 'bold', color: '#0D9488' }}&gt;There are three boxes&lt;/span&gt;。错误思路：凭感觉填 is three box——错在没找信号词。&lt;/Text&gt;       &lt;/Box&gt;     &lt;/Box&gt;     &lt;Box style={{ flex: 1, flexDirection: 'column', gap: 10 }}&gt;       &lt;Text style={{ fontSize: 17, fontWeight: 'bold', color: '#1A1A1A' }}&gt;复数变化四规则&lt;/Text&gt;       {[         { r: '一般加 s', e: 'apples, books' },         { r: 's/x/ch/sh 结尾加 es —— 四兄弟结尾，es 跟上来', e: 'boxes, buses, watches' },         { r: '辅音字母＋y：变 y 为 i 加 es', e: 'baby→babies, story→stories' },         { r: '特殊记忆「小人国」', e: 'man→men, child→children, foot→feet, tooth→teeth, woman→women' },       ].map((r, i) =&gt; (         &lt;Box key={i} style={{ background: 'rgba(13,148,136,0.08)', borderRadius: 10, padding: '8px 14px' }}&gt;           &lt;Text style={{ fontSize: 14.5, fontWeight: 'bold', color: '#1A1A1A' }}&gt;{r.r}&lt;/Text&gt;           &lt;Text style={{ fontSize: 13.5, color: '#0D9488' }}&gt;{r.e}&lt;/Text&gt;         &lt;/Box&gt;       ))}       &lt;Box style={{ background: '#1A1A1A', borderRadius: 12, padding: '10px 16px', marginTop: 2 }}&gt;         &lt;Text style={{ fontSize: 14, color: '#FAF7F2', lineHeight: 1.6 }}&gt;&lt;span style={{ fontWeight: 'bold', color: '#F97316' }}&gt;训练：&lt;/span&gt;① There ___ (be) some milk → is（milk 不可数）；② many ___ (child) → children；③ How many ___ (bus) → buses；④ These ___ (story) → stories。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17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04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英语模块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填空题：单复数，信号词说了算</a:t>
            </a:r>
            <a:endParaRPr/>
          </a:p>
        </p:txBody>
      </p:sp>
      <p:graphicFrame>
        <p:nvGraphicFramePr>
          <p:cNvPr id="209" name=""/>
          <p:cNvGraphicFramePr/>
          <p:nvPr/>
        </p:nvGraphicFramePr>
        <p:xfrm rot="0" flipH="0" flipV="0">
          <a:off x="666750" y="1257300"/>
          <a:ext cx="5629275" cy="1866900"/>
        </p:xfrm>
        <a:graphic>
          <a:graphicData uri="http://schemas.openxmlformats.org/drawingml/2006/table">
            <a:tbl>
              <a:tblGrid>
                <a:gridCol w="2632922">
                  <a:extLst>
                    <a:ext uri="{9D8B030D-6E8A-4147-A177-3AD203B41FA5}">
                      <a16:colId val="1"/>
                    </a:ext>
                  </a:extLst>
                </a:gridCol>
                <a:gridCol w="1626859">
                  <a:extLst>
                    <a:ext uri="{9D8B030D-6E8A-4147-A177-3AD203B41FA5}">
                      <a16:colId val="2"/>
                    </a:ext>
                  </a:extLst>
                </a:gridCol>
                <a:gridCol w="136949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26447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看到……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名词就用……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例子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6447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a / an / one / this / that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单数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a book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459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two, three…数字 / many / these / those / how many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复数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many books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459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some / a lot of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97316"/>
                          </a:solidFill>
                          <a:latin typeface="Microsoft YaHei"/>
                          <a:ea typeface="Microsoft YaHei"/>
                        </a:rPr>
                        <a:t>复数可数 或 不可数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some books / some water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459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There is / There are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is 配单数或不可数，are 配复数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There are two cats.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210" name=""/>
          <p:cNvSpPr/>
          <p:nvPr/>
        </p:nvSpPr>
        <p:spPr>
          <a:xfrm rot="0" flipH="0" flipV="0">
            <a:off x="666750" y="3238500"/>
            <a:ext cx="5629275" cy="29337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38200" y="3352800"/>
            <a:ext cx="528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97316"/>
                </a:solidFill>
                <a:latin typeface="Microsoft YaHei"/>
                <a:ea typeface="Microsoft YaHei"/>
              </a:rPr>
              <a:t>案例：</a:t>
            </a:r>
            <a:r>
              <a:rPr lang="en-US" sz="1125" b="1">
                <a:solidFill>
                  <a:srgbClr val="F97316"/>
                </a:solidFill>
                <a:latin typeface="Microsoft YaHei"/>
                <a:ea typeface="Microsoft YaHei"/>
              </a:rPr>
              <a:t>There ___ (be) three ___ (box) on the desk.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38200" y="3581400"/>
            <a:ext cx="52863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圈信号词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en-US" sz="1050" b="1">
                <a:solidFill>
                  <a:srgbClr val="F97316"/>
                </a:solidFill>
                <a:latin typeface="Microsoft YaHei"/>
                <a:ea typeface="Microsoft YaHei"/>
              </a:rPr>
              <a:t>three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复数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en-US" sz="1050" b="1">
                <a:solidFill>
                  <a:srgbClr val="0D9488"/>
                </a:solidFill>
                <a:latin typeface="Microsoft YaHei"/>
                <a:ea typeface="Microsoft YaHei"/>
              </a:rPr>
              <a:t>There are three boxes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。错误思路：凭感觉填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is three box——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错在没找信号词。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638925" y="1257300"/>
            <a:ext cx="4886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复数变化四规则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638925" y="1552575"/>
            <a:ext cx="4886325" cy="485775"/>
          </a:xfrm>
          <a:prstGeom prst="roundRect">
            <a:avLst>
              <a:gd name="adj" fmla="val 19608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772275" y="1628775"/>
            <a:ext cx="461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A1A1A"/>
                </a:solidFill>
                <a:latin typeface="Microsoft YaHei"/>
                <a:ea typeface="Microsoft YaHei"/>
              </a:rPr>
              <a:t>一般加</a:t>
            </a:r>
            <a:r>
              <a:rPr lang="en-US" sz="1088" b="1">
                <a:solidFill>
                  <a:srgbClr val="1A1A1A"/>
                </a:solidFill>
                <a:latin typeface="Microsoft YaHei"/>
                <a:ea typeface="Microsoft YaHei"/>
              </a:rPr>
              <a:t> s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772275" y="1800225"/>
            <a:ext cx="461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0D9488"/>
                </a:solidFill>
                <a:latin typeface="Microsoft YaHei"/>
                <a:ea typeface="Microsoft YaHei"/>
              </a:rPr>
              <a:t>apples, books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638925" y="2133600"/>
            <a:ext cx="4886325" cy="485775"/>
          </a:xfrm>
          <a:prstGeom prst="roundRect">
            <a:avLst>
              <a:gd name="adj" fmla="val 19608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772275" y="2209800"/>
            <a:ext cx="461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1A1A1A"/>
                </a:solidFill>
                <a:latin typeface="Microsoft YaHei"/>
                <a:ea typeface="Microsoft YaHei"/>
              </a:rPr>
              <a:t>s/x/ch/sh </a:t>
            </a:r>
            <a:r>
              <a:rPr lang="zh-CN" sz="1088" b="1">
                <a:solidFill>
                  <a:srgbClr val="1A1A1A"/>
                </a:solidFill>
                <a:latin typeface="Microsoft YaHei"/>
                <a:ea typeface="Microsoft YaHei"/>
              </a:rPr>
              <a:t>结尾加</a:t>
            </a:r>
            <a:r>
              <a:rPr lang="en-US" sz="1088" b="1">
                <a:solidFill>
                  <a:srgbClr val="1A1A1A"/>
                </a:solidFill>
                <a:latin typeface="Microsoft YaHei"/>
                <a:ea typeface="Microsoft YaHei"/>
              </a:rPr>
              <a:t> es —— </a:t>
            </a:r>
            <a:r>
              <a:rPr lang="zh-CN" sz="1088" b="1">
                <a:solidFill>
                  <a:srgbClr val="1A1A1A"/>
                </a:solidFill>
                <a:latin typeface="Microsoft YaHei"/>
                <a:ea typeface="Microsoft YaHei"/>
              </a:rPr>
              <a:t>四兄弟结尾，</a:t>
            </a:r>
            <a:r>
              <a:rPr lang="en-US" sz="1088" b="1">
                <a:solidFill>
                  <a:srgbClr val="1A1A1A"/>
                </a:solidFill>
                <a:latin typeface="Microsoft YaHei"/>
                <a:ea typeface="Microsoft YaHei"/>
              </a:rPr>
              <a:t>es </a:t>
            </a:r>
            <a:r>
              <a:rPr lang="zh-CN" sz="1088" b="1">
                <a:solidFill>
                  <a:srgbClr val="1A1A1A"/>
                </a:solidFill>
                <a:latin typeface="Microsoft YaHei"/>
                <a:ea typeface="Microsoft YaHei"/>
              </a:rPr>
              <a:t>跟上来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772275" y="2381250"/>
            <a:ext cx="461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0D9488"/>
                </a:solidFill>
                <a:latin typeface="Microsoft YaHei"/>
                <a:ea typeface="Microsoft YaHei"/>
              </a:rPr>
              <a:t>boxes, buses, watches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638925" y="2714625"/>
            <a:ext cx="4886325" cy="485775"/>
          </a:xfrm>
          <a:prstGeom prst="roundRect">
            <a:avLst>
              <a:gd name="adj" fmla="val 19608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772275" y="2790825"/>
            <a:ext cx="461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A1A1A"/>
                </a:solidFill>
                <a:latin typeface="Microsoft YaHei"/>
                <a:ea typeface="Microsoft YaHei"/>
              </a:rPr>
              <a:t>辅音字母＋</a:t>
            </a:r>
            <a:r>
              <a:rPr lang="en-US" sz="1088" b="1">
                <a:solidFill>
                  <a:srgbClr val="1A1A1A"/>
                </a:solidFill>
                <a:latin typeface="Microsoft YaHei"/>
                <a:ea typeface="Microsoft YaHei"/>
              </a:rPr>
              <a:t>y</a:t>
            </a:r>
            <a:r>
              <a:rPr lang="zh-CN" sz="1088" b="1">
                <a:solidFill>
                  <a:srgbClr val="1A1A1A"/>
                </a:solidFill>
                <a:latin typeface="Microsoft YaHei"/>
                <a:ea typeface="Microsoft YaHei"/>
              </a:rPr>
              <a:t>：变</a:t>
            </a:r>
            <a:r>
              <a:rPr lang="en-US" sz="1088" b="1">
                <a:solidFill>
                  <a:srgbClr val="1A1A1A"/>
                </a:solidFill>
                <a:latin typeface="Microsoft YaHei"/>
                <a:ea typeface="Microsoft YaHei"/>
              </a:rPr>
              <a:t> y </a:t>
            </a:r>
            <a:r>
              <a:rPr lang="zh-CN" sz="1088" b="1">
                <a:solidFill>
                  <a:srgbClr val="1A1A1A"/>
                </a:solidFill>
                <a:latin typeface="Microsoft YaHei"/>
                <a:ea typeface="Microsoft YaHei"/>
              </a:rPr>
              <a:t>为</a:t>
            </a:r>
            <a:r>
              <a:rPr lang="en-US" sz="1088" b="1">
                <a:solidFill>
                  <a:srgbClr val="1A1A1A"/>
                </a:solidFill>
                <a:latin typeface="Microsoft YaHei"/>
                <a:ea typeface="Microsoft YaHei"/>
              </a:rPr>
              <a:t> i </a:t>
            </a:r>
            <a:r>
              <a:rPr lang="zh-CN" sz="1088" b="1">
                <a:solidFill>
                  <a:srgbClr val="1A1A1A"/>
                </a:solidFill>
                <a:latin typeface="Microsoft YaHei"/>
                <a:ea typeface="Microsoft YaHei"/>
              </a:rPr>
              <a:t>加</a:t>
            </a:r>
            <a:r>
              <a:rPr lang="en-US" sz="1088" b="1">
                <a:solidFill>
                  <a:srgbClr val="1A1A1A"/>
                </a:solidFill>
                <a:latin typeface="Microsoft YaHei"/>
                <a:ea typeface="Microsoft YaHei"/>
              </a:rPr>
              <a:t> es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772275" y="2962275"/>
            <a:ext cx="461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0D9488"/>
                </a:solidFill>
                <a:latin typeface="Microsoft YaHei"/>
                <a:ea typeface="Microsoft YaHei"/>
              </a:rPr>
              <a:t>baby→babies, story→stories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638925" y="3295650"/>
            <a:ext cx="4886325" cy="485775"/>
          </a:xfrm>
          <a:prstGeom prst="roundRect">
            <a:avLst>
              <a:gd name="adj" fmla="val 19608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772275" y="3371850"/>
            <a:ext cx="461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A1A1A"/>
                </a:solidFill>
                <a:latin typeface="Microsoft YaHei"/>
                <a:ea typeface="Microsoft YaHei"/>
              </a:rPr>
              <a:t>特殊记忆「小人国」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772275" y="3543300"/>
            <a:ext cx="461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0D9488"/>
                </a:solidFill>
                <a:latin typeface="Microsoft YaHei"/>
                <a:ea typeface="Microsoft YaHei"/>
              </a:rPr>
              <a:t>man→men, child→children, foot→feet, tooth→teeth, woman→women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638925" y="3895725"/>
            <a:ext cx="4886325" cy="962025"/>
          </a:xfrm>
          <a:prstGeom prst="roundRect">
            <a:avLst>
              <a:gd name="adj" fmla="val 11881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791325" y="3990975"/>
            <a:ext cx="45815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F97316"/>
                </a:solidFill>
                <a:latin typeface="Microsoft YaHei"/>
                <a:ea typeface="Microsoft YaHei"/>
              </a:rPr>
              <a:t>训练：</a:t>
            </a:r>
            <a:r>
              <a:rPr lang="en-US" sz="1050">
                <a:solidFill>
                  <a:srgbClr val="FAF7F2"/>
                </a:solidFill>
                <a:latin typeface="Microsoft YaHei"/>
                <a:ea typeface="Microsoft YaHei"/>
              </a:rPr>
              <a:t>① There ___ (be) some milk → is</a:t>
            </a:r>
            <a:r>
              <a:rPr lang="zh-CN" sz="1050">
                <a:solidFill>
                  <a:srgbClr val="FAF7F2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FAF7F2"/>
                </a:solidFill>
                <a:latin typeface="Microsoft YaHei"/>
                <a:ea typeface="Microsoft YaHei"/>
              </a:rPr>
              <a:t>milk </a:t>
            </a:r>
            <a:r>
              <a:rPr lang="zh-CN" sz="1050">
                <a:solidFill>
                  <a:srgbClr val="FAF7F2"/>
                </a:solidFill>
                <a:latin typeface="Microsoft YaHei"/>
                <a:ea typeface="Microsoft YaHei"/>
              </a:rPr>
              <a:t>不可数）；②</a:t>
            </a:r>
            <a:r>
              <a:rPr lang="en-US" sz="1050">
                <a:solidFill>
                  <a:srgbClr val="FAF7F2"/>
                </a:solidFill>
                <a:latin typeface="Microsoft YaHei"/>
                <a:ea typeface="Microsoft YaHei"/>
              </a:rPr>
              <a:t> many ___ (child) → children</a:t>
            </a:r>
            <a:r>
              <a:rPr lang="zh-CN" sz="1050">
                <a:solidFill>
                  <a:srgbClr val="FAF7F2"/>
                </a:solidFill>
                <a:latin typeface="Microsoft YaHei"/>
                <a:ea typeface="Microsoft YaHei"/>
              </a:rPr>
              <a:t>；③</a:t>
            </a:r>
            <a:r>
              <a:rPr lang="en-US" sz="1050">
                <a:solidFill>
                  <a:srgbClr val="FAF7F2"/>
                </a:solidFill>
                <a:latin typeface="Microsoft YaHei"/>
                <a:ea typeface="Microsoft YaHei"/>
              </a:rPr>
              <a:t> How many ___ (bus) → buses</a:t>
            </a:r>
            <a:r>
              <a:rPr lang="zh-CN" sz="1050">
                <a:solidFill>
                  <a:srgbClr val="FAF7F2"/>
                </a:solidFill>
                <a:latin typeface="Microsoft YaHei"/>
                <a:ea typeface="Microsoft YaHei"/>
              </a:rPr>
              <a:t>；④</a:t>
            </a:r>
            <a:r>
              <a:rPr lang="en-US" sz="1050">
                <a:solidFill>
                  <a:srgbClr val="FAF7F2"/>
                </a:solidFill>
                <a:latin typeface="Microsoft YaHei"/>
                <a:ea typeface="Microsoft YaHei"/>
              </a:rPr>
              <a:t> These ___ (story) → stories</a:t>
            </a:r>
            <a:r>
              <a:rPr lang="zh-CN" sz="1050">
                <a:solidFill>
                  <a:srgbClr val="FAF7F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0058400" y="5905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中文没复数，英文必须有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17 / 28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233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4 英语模块&lt;/Text&gt;       &lt;Text style={{ fontSize: 34, fontWeight: 'bold', color: '#1A1A1A' }}&gt;语法变卡片：四大句型模板&lt;/Text&gt;     &lt;/Box&gt;     &lt;Text style={{ fontSize: 14, color: '#1A1A1A', opacity: 0.55 }}&gt;像搭积木一样套公式&lt;/Text&gt;   &lt;/Box&gt;   &lt;Box style={{ width: 1280, height: 540, padding: '12px 70px', flexDirection: 'column', gap: 12 }}&gt;     &lt;Box style={{ flexDirection: 'row', gap: 14, flex: 1 }}&gt;       {[         { n: '卡 1 · be 动词', f: 'I am / You-We-They are / He-She-It is', e: 'I am ten. / They are my friends.', w: 'He and I → are（两人以上用 are）', k: '我用 am，你用 are，is 连着他她它', c: '#F97316' },         { n: '卡 2 · there be', f: 'There is＋单数/不可数；There are＋复数', e: 'There is some juice. / There are four seasons.', w: '就近原则：There is a book and two pens.', k: '用 is 用 are，后面名词说了算', c: '#0D9488' },         { n: '卡 3 · 三单', f: 'He/She/It ＋ 动词s (plays, goes, studies)', e: 'She goes to school at seven.', w: &quot;doesn't 后动词脱衣：He doesn't like fish.&quot;, k: '三单动词，别忘穿 s 衣', c: '#F97316' },         { n: '卡 4 · 现在进行时', f: 'be ＋ 动词ing ＝ 正在做', e: 'Look! The bird is singing.', w: '别丢 be：He is running（不能只写 He running）', k: 'be 加 ing，正在发生别忘记', c: '#0D9488' },       ].map((c, i) =&gt; (         &lt;Box key={i} style={{ flex: 1, background: '#FFFFFF', borderRadius: 16, padding: '16px 16px', boxShadow: '0 4px 16px rgba(26,26,26,0.07)', display: 'flex', flexDirection: 'column' }}&gt;           &lt;Box style={{ background: c.c, borderRadius: 8, padding: '6px 10px', alignSelf: 'flex-start' }}&gt;             &lt;Text style={{ fontSize: 15, fontWeight: 'bold', color: '#FAF7F2' }}&gt;{c.n}&lt;/Text&gt;           &lt;/Box&gt;           &lt;Text style={{ fontSize: 15, fontWeight: 'bold', color: '#1A1A1A', lineHeight: 1.5, marginTop: 10 }}&gt;{c.f}&lt;/Text&gt;           &lt;Text style={{ fontSize: 13.5, color: '#1A1A1A', opacity: 0.75, lineHeight: 1.55, marginTop: 8 }}&gt;{c.e}&lt;/Text&gt;           &lt;Text style={{ fontSize: 13, color: '#F97316', lineHeight: 1.5, marginTop: 8 }}&gt;&lt;span style={{ fontWeight: 'bold' }}&gt;易错：&lt;/span&gt;{c.w}&lt;/Text&gt;           &lt;Box style={{ marginTop: 'auto', background: 'rgba(13,148,136,0.1)', borderRadius: 8, padding: '8px 10px' }}&gt;             &lt;Text style={{ fontSize: 13.5, fontWeight: 'bold', color: '#0D9488', lineHeight: 1.45 }}&gt;{c.k}&lt;/Text&gt;           &lt;/Box&gt;         &lt;/Box&gt;       ))}     &lt;/Box&gt;     &lt;Box style={{ background: '#1A1A1A', borderRadius: 14, padding: '12px 20px', flexDirection: 'row', alignItems: 'center', gap: 16 }}&gt;       &lt;Text style={{ fontSize: 17, fontWeight: 'bold', color: '#F97316', whiteSpace: 'nowrap' }}&gt;使用方法&lt;/Text&gt;       &lt;Text style={{ fontSize: 15.5, color: '#FAF7F2', lineHeight: 1.5 }}&gt;做题先判断「这道题属于哪张卡」，再套公式——语法不用死背规则，背四张卡就够。&lt;/Text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18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04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英语模块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语法变卡片：四大句型模板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66750" y="1257300"/>
            <a:ext cx="2619375" cy="43053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819150" y="1409700"/>
            <a:ext cx="1076325" cy="285750"/>
          </a:xfrm>
          <a:prstGeom prst="roundRect">
            <a:avLst>
              <a:gd name="adj" fmla="val 2666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914400" y="1466850"/>
            <a:ext cx="885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卡</a:t>
            </a:r>
            <a:r>
              <a:rPr lang="en-US" sz="1125" b="1">
                <a:solidFill>
                  <a:srgbClr val="FAF7F2"/>
                </a:solidFill>
                <a:latin typeface="Microsoft YaHei"/>
                <a:ea typeface="Microsoft YaHei"/>
              </a:rPr>
              <a:t> 1 · be </a:t>
            </a: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动词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19150" y="1790700"/>
            <a:ext cx="2314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I am / You-We-They are / He-She-It is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19150" y="2705100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易错：</a:t>
            </a:r>
            <a:r>
              <a:rPr lang="en-US" sz="975">
                <a:solidFill>
                  <a:srgbClr val="F97316"/>
                </a:solidFill>
                <a:latin typeface="Microsoft YaHei"/>
                <a:ea typeface="Microsoft YaHei"/>
              </a:rPr>
              <a:t>He and I → are</a:t>
            </a:r>
            <a:r>
              <a:rPr lang="zh-CN" sz="975">
                <a:solidFill>
                  <a:srgbClr val="F97316"/>
                </a:solidFill>
                <a:latin typeface="Microsoft YaHei"/>
                <a:ea typeface="Microsoft YaHei"/>
              </a:rPr>
              <a:t>（两人以上用</a:t>
            </a:r>
            <a:r>
              <a:rPr lang="en-US" sz="975">
                <a:solidFill>
                  <a:srgbClr val="F97316"/>
                </a:solidFill>
                <a:latin typeface="Microsoft YaHei"/>
                <a:ea typeface="Microsoft YaHei"/>
              </a:rPr>
              <a:t> are</a:t>
            </a:r>
            <a:r>
              <a:rPr lang="zh-CN" sz="975">
                <a:solidFill>
                  <a:srgbClr val="F97316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819150" y="5029200"/>
            <a:ext cx="2314575" cy="381000"/>
          </a:xfrm>
          <a:prstGeom prst="roundRect">
            <a:avLst>
              <a:gd name="adj" fmla="val 2000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14400" y="5105400"/>
            <a:ext cx="2124075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我用</a:t>
            </a:r>
            <a:r>
              <a:rPr lang="en-US" sz="1013" b="1">
                <a:solidFill>
                  <a:srgbClr val="0D9488"/>
                </a:solidFill>
                <a:latin typeface="Microsoft YaHei"/>
                <a:ea typeface="Microsoft YaHei"/>
              </a:rPr>
              <a:t> am</a:t>
            </a: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，你用</a:t>
            </a:r>
            <a:r>
              <a:rPr lang="en-US" sz="1013" b="1">
                <a:solidFill>
                  <a:srgbClr val="0D9488"/>
                </a:solidFill>
                <a:latin typeface="Microsoft YaHei"/>
                <a:ea typeface="Microsoft YaHei"/>
              </a:rPr>
              <a:t> are</a:t>
            </a: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，</a:t>
            </a:r>
            <a:r>
              <a:rPr lang="en-US" sz="1013" b="1">
                <a:solidFill>
                  <a:srgbClr val="0D9488"/>
                </a:solidFill>
                <a:latin typeface="Microsoft YaHei"/>
                <a:ea typeface="Microsoft YaHei"/>
              </a:rPr>
              <a:t>is </a:t>
            </a: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连着他她它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3419475" y="1257300"/>
            <a:ext cx="2609850" cy="430530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3571875" y="14097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667125" y="1466850"/>
            <a:ext cx="95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卡</a:t>
            </a:r>
            <a:r>
              <a:rPr lang="en-US" sz="1125" b="1">
                <a:solidFill>
                  <a:srgbClr val="FAF7F2"/>
                </a:solidFill>
                <a:latin typeface="Microsoft YaHei"/>
                <a:ea typeface="Microsoft YaHei"/>
              </a:rPr>
              <a:t> 2 · there be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571875" y="1790700"/>
            <a:ext cx="2305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There is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＋单数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不可数；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There are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＋复数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571875" y="2943225"/>
            <a:ext cx="23050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易错：</a:t>
            </a:r>
            <a:r>
              <a:rPr lang="zh-CN" sz="975">
                <a:solidFill>
                  <a:srgbClr val="F97316"/>
                </a:solidFill>
                <a:latin typeface="Microsoft YaHei"/>
                <a:ea typeface="Microsoft YaHei"/>
              </a:rPr>
              <a:t>就近原则：</a:t>
            </a:r>
            <a:r>
              <a:rPr lang="en-US" sz="975">
                <a:solidFill>
                  <a:srgbClr val="F97316"/>
                </a:solidFill>
                <a:latin typeface="Microsoft YaHei"/>
                <a:ea typeface="Microsoft YaHei"/>
              </a:rPr>
              <a:t>There is a book and two pens.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3571875" y="5029200"/>
            <a:ext cx="2305050" cy="381000"/>
          </a:xfrm>
          <a:prstGeom prst="roundRect">
            <a:avLst>
              <a:gd name="adj" fmla="val 2000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667125" y="5105400"/>
            <a:ext cx="21145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用</a:t>
            </a:r>
            <a:r>
              <a:rPr lang="en-US" sz="1013" b="1">
                <a:solidFill>
                  <a:srgbClr val="0D9488"/>
                </a:solidFill>
                <a:latin typeface="Microsoft YaHei"/>
                <a:ea typeface="Microsoft YaHei"/>
              </a:rPr>
              <a:t> is </a:t>
            </a: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用</a:t>
            </a:r>
            <a:r>
              <a:rPr lang="en-US" sz="1013" b="1">
                <a:solidFill>
                  <a:srgbClr val="0D9488"/>
                </a:solidFill>
                <a:latin typeface="Microsoft YaHei"/>
                <a:ea typeface="Microsoft YaHei"/>
              </a:rPr>
              <a:t> are</a:t>
            </a: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，后面名词说了算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162675" y="1257300"/>
            <a:ext cx="2619375" cy="43053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6315075" y="1409700"/>
            <a:ext cx="866775" cy="285750"/>
          </a:xfrm>
          <a:prstGeom prst="roundRect">
            <a:avLst>
              <a:gd name="adj" fmla="val 2666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410325" y="1466850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卡</a:t>
            </a:r>
            <a:r>
              <a:rPr lang="en-US" sz="1125" b="1">
                <a:solidFill>
                  <a:srgbClr val="FAF7F2"/>
                </a:solidFill>
                <a:latin typeface="Microsoft YaHei"/>
                <a:ea typeface="Microsoft YaHei"/>
              </a:rPr>
              <a:t> 3 · </a:t>
            </a: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三单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315075" y="1790700"/>
            <a:ext cx="2314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He/She/It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＋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动词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s (plays, goes, studies)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315075" y="2705100"/>
            <a:ext cx="23145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易错：</a:t>
            </a:r>
            <a:r>
              <a:rPr lang="en-US" sz="975">
                <a:solidFill>
                  <a:srgbClr val="F97316"/>
                </a:solidFill>
                <a:latin typeface="Microsoft YaHei"/>
                <a:ea typeface="Microsoft YaHei"/>
              </a:rPr>
              <a:t>doesn't </a:t>
            </a:r>
            <a:r>
              <a:rPr lang="zh-CN" sz="975">
                <a:solidFill>
                  <a:srgbClr val="F97316"/>
                </a:solidFill>
                <a:latin typeface="Microsoft YaHei"/>
                <a:ea typeface="Microsoft YaHei"/>
              </a:rPr>
              <a:t>后动词脱衣：</a:t>
            </a:r>
            <a:r>
              <a:rPr lang="en-US" sz="975">
                <a:solidFill>
                  <a:srgbClr val="F97316"/>
                </a:solidFill>
                <a:latin typeface="Microsoft YaHei"/>
                <a:ea typeface="Microsoft YaHei"/>
              </a:rPr>
              <a:t>He doesn't like fish.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315075" y="5029200"/>
            <a:ext cx="2314575" cy="381000"/>
          </a:xfrm>
          <a:prstGeom prst="roundRect">
            <a:avLst>
              <a:gd name="adj" fmla="val 2000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10325" y="5105400"/>
            <a:ext cx="2124075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三单动词，别忘穿</a:t>
            </a:r>
            <a:r>
              <a:rPr lang="en-US" sz="1013" b="1">
                <a:solidFill>
                  <a:srgbClr val="0D9488"/>
                </a:solidFill>
                <a:latin typeface="Microsoft YaHei"/>
                <a:ea typeface="Microsoft YaHei"/>
              </a:rPr>
              <a:t> s </a:t>
            </a: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衣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8915400" y="1257300"/>
            <a:ext cx="2609850" cy="430530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9067800" y="1409700"/>
            <a:ext cx="1295400" cy="28575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163050" y="14668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卡</a:t>
            </a:r>
            <a:r>
              <a:rPr lang="en-US" sz="1125" b="1">
                <a:solidFill>
                  <a:srgbClr val="FAF7F2"/>
                </a:solidFill>
                <a:latin typeface="Microsoft YaHei"/>
                <a:ea typeface="Microsoft YaHei"/>
              </a:rPr>
              <a:t> 4 · </a:t>
            </a: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现在进行时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067800" y="1790700"/>
            <a:ext cx="2305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be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＋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动词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ing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＝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正在做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067800" y="2447925"/>
            <a:ext cx="23050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易错：</a:t>
            </a:r>
            <a:r>
              <a:rPr lang="zh-CN" sz="975">
                <a:solidFill>
                  <a:srgbClr val="F97316"/>
                </a:solidFill>
                <a:latin typeface="Microsoft YaHei"/>
                <a:ea typeface="Microsoft YaHei"/>
              </a:rPr>
              <a:t>别丢</a:t>
            </a:r>
            <a:r>
              <a:rPr lang="en-US" sz="975">
                <a:solidFill>
                  <a:srgbClr val="F97316"/>
                </a:solidFill>
                <a:latin typeface="Microsoft YaHei"/>
                <a:ea typeface="Microsoft YaHei"/>
              </a:rPr>
              <a:t> be</a:t>
            </a:r>
            <a:r>
              <a:rPr lang="zh-CN" sz="975">
                <a:solidFill>
                  <a:srgbClr val="F97316"/>
                </a:solidFill>
                <a:latin typeface="Microsoft YaHei"/>
                <a:ea typeface="Microsoft YaHei"/>
              </a:rPr>
              <a:t>：</a:t>
            </a:r>
            <a:r>
              <a:rPr lang="en-US" sz="975">
                <a:solidFill>
                  <a:srgbClr val="F97316"/>
                </a:solidFill>
                <a:latin typeface="Microsoft YaHei"/>
                <a:ea typeface="Microsoft YaHei"/>
              </a:rPr>
              <a:t>He is running</a:t>
            </a:r>
            <a:r>
              <a:rPr lang="zh-CN" sz="975">
                <a:solidFill>
                  <a:srgbClr val="F97316"/>
                </a:solidFill>
                <a:latin typeface="Microsoft YaHei"/>
                <a:ea typeface="Microsoft YaHei"/>
              </a:rPr>
              <a:t>（不能只写</a:t>
            </a:r>
            <a:r>
              <a:rPr lang="en-US" sz="975">
                <a:solidFill>
                  <a:srgbClr val="F97316"/>
                </a:solidFill>
                <a:latin typeface="Microsoft YaHei"/>
                <a:ea typeface="Microsoft YaHei"/>
              </a:rPr>
              <a:t> He running</a:t>
            </a:r>
            <a:r>
              <a:rPr lang="zh-CN" sz="975">
                <a:solidFill>
                  <a:srgbClr val="F97316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9067800" y="5029200"/>
            <a:ext cx="2305050" cy="381000"/>
          </a:xfrm>
          <a:prstGeom prst="roundRect">
            <a:avLst>
              <a:gd name="adj" fmla="val 2000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163050" y="5105400"/>
            <a:ext cx="21145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 b="1">
                <a:solidFill>
                  <a:srgbClr val="0D9488"/>
                </a:solidFill>
                <a:latin typeface="Microsoft YaHei"/>
                <a:ea typeface="Microsoft YaHei"/>
              </a:rPr>
              <a:t>be </a:t>
            </a: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加</a:t>
            </a:r>
            <a:r>
              <a:rPr lang="en-US" sz="1013" b="1">
                <a:solidFill>
                  <a:srgbClr val="0D9488"/>
                </a:solidFill>
                <a:latin typeface="Microsoft YaHei"/>
                <a:ea typeface="Microsoft YaHei"/>
              </a:rPr>
              <a:t> ing</a:t>
            </a:r>
            <a:r>
              <a:rPr lang="zh-CN" sz="1013" b="1">
                <a:solidFill>
                  <a:srgbClr val="0D9488"/>
                </a:solidFill>
                <a:latin typeface="Microsoft YaHei"/>
                <a:ea typeface="Microsoft YaHei"/>
              </a:rPr>
              <a:t>，正在发生别忘记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66750" y="5676900"/>
            <a:ext cx="10858500" cy="495300"/>
          </a:xfrm>
          <a:prstGeom prst="roundRect">
            <a:avLst>
              <a:gd name="adj" fmla="val 26923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57250" y="58293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97316"/>
                </a:solidFill>
                <a:latin typeface="Microsoft YaHei"/>
                <a:ea typeface="Microsoft YaHei"/>
              </a:rPr>
              <a:t>使用方法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657350" y="5791200"/>
            <a:ext cx="56102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FAF7F2"/>
                </a:solidFill>
                <a:latin typeface="Microsoft YaHei"/>
                <a:ea typeface="Microsoft YaHei"/>
              </a:rPr>
              <a:t>做题先判断「这道题属于哪张卡」，再套公式——语法不用死背规则，背四张卡就够。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0325100" y="59055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像搭积木一样套公式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19150" y="2381250"/>
            <a:ext cx="2314575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13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I am ten. / They are my friends.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571875" y="2381250"/>
            <a:ext cx="23050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13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There is some juice. / There are four seasons.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315075" y="2381250"/>
            <a:ext cx="2314575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13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She goes to school at seven.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067800" y="2124075"/>
            <a:ext cx="23050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13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Look! The bird is singing.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18 / 28</a:t>
            </a:r>
            <a:endParaRPr/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277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4 英语模块&lt;/Text&gt;       &lt;Text style={{ fontSize: 34, fontWeight: 'bold', color: '#1A1A1A' }}&gt;语法实战：判断 · 造句 · 改错&lt;/Text&gt;     &lt;/Box&gt;     &lt;Text style={{ fontSize: 14, color: '#1A1A1A', opacity: 0.55 }}&gt;做题先问：属于哪张卡？&lt;/Text&gt;   &lt;/Box&gt;   &lt;Box style={{ width: 1280, height: 540, padding: '12px 70px', flexDirection: 'row', gap: 36 }}&gt;     &lt;Box style={{ width: 300, display: 'flex', flexDirection: 'column', justifyContent: 'space-between' }}&gt;       &lt;Text style={{ fontSize: 26, fontWeight: 'bold', color: '#1A1A1A', lineHeight: 1.4 }}&gt;规则背得熟，&lt;br /&gt;一做题还是错？&lt;/Text&gt;       &lt;Text style={{ fontSize: 16, color: '#1A1A1A', opacity: 0.75, lineHeight: 1.7 }}&gt;根因：规则停在「背诵层」，没变成「拿来就用」的句型卡。实战三组题，把四张卡用起来。&lt;/Text&gt;       &lt;Box style={{ flexDirection: 'column', gap: 8 }}&gt;         {['卡 1 be 动词', '卡 2 there be', '卡 3 三单', '卡 4 现在进行时'].map((c, i) =&gt; (           &lt;Box key={i} style={{ flexDirection: 'row', alignItems: 'center', gap: 10 }}&gt;             &lt;Box style={{ width: 12, height: 12, borderRadius: 6, background: i % 2 === 0 ? '#F97316' : '#0D9488' }} /&gt;             &lt;Text style={{ fontSize: 15, color: '#1A1A1A' }}&gt;{c}&lt;/Text&gt;           &lt;/Box&gt;         ))}       &lt;/Box&gt;     &lt;/Box&gt;     &lt;Box style={{ flex: 1, flexDirection: 'column', gap: 12 }}&gt;       &lt;Box style={{ flex: 1.2, background: '#FFFFFF', borderRadius: 14, padding: '12px 18px', boxShadow: '0 2px 10px rgba(26,26,26,0.05)' }}&gt;         &lt;Text style={{ fontSize: 16, fontWeight: 'bold', color: '#F97316' }}&gt;① 判断属于哪张卡，并填空&lt;/Text&gt;         &lt;Text style={{ fontSize: 14.5, color: '#1A1A1A', lineHeight: 1.75, marginTop: 6 }}&gt;She ___ (go) to school at seven. → &lt;span style={{ fontWeight: 'bold', color: '#0D9488' }}&gt;goes【卡3】&lt;/span&gt;　　Look! The birds ___ (fly) → &lt;span style={{ fontWeight: 'bold', color: '#0D9488' }}&gt;are flying【卡4】&lt;/span&gt;&lt;br /&gt;___ there any water? → &lt;span style={{ fontWeight: 'bold', color: '#0D9488' }}&gt;Is【卡2】&lt;/span&gt;（water 不可数）　　They ___ (be) my friends. → &lt;span style={{ fontWeight: 'bold', color: '#0D9488' }}&gt;are【卡1】&lt;/span&gt;&lt;/Text&gt;       &lt;/Box&gt;       &lt;Box style={{ flex: 1, background: '#FFFFFF', borderRadius: 14, padding: '12px 18px', boxShadow: '0 2px 10px rgba(26,26,26,0.05)' }}&gt;         &lt;Text style={{ fontSize: 16, fontWeight: 'bold', color: '#F97316' }}&gt;② 用四张卡各造一句（示例）&lt;/Text&gt;         &lt;Text style={{ fontSize: 14.5, color: '#1A1A1A', lineHeight: 1.7, marginTop: 6 }}&gt;卡1 We are in Class Four.　卡2 There are five apples on the table.&lt;br /&gt;卡3 My mother works in a hospital.　卡4 The children are playing games now.&lt;/Text&gt;       &lt;/Box&gt;       &lt;Box style={{ flex: 0.9, background: '#FFFFFF', borderRadius: 14, padding: '12px 18px', boxShadow: '0 2px 10px rgba(26,26,26,0.05)' }}&gt;         &lt;Text style={{ fontSize: 16, fontWeight: 'bold', color: '#F97316' }}&gt;③ 改错（每句一处）&lt;/Text&gt;         &lt;Text style={{ fontSize: 14.5, color: '#1A1A1A', lineHeight: 1.7, marginTop: 6 }}&gt;He like playing football. → &lt;span style={{ fontWeight: 'bold', color: '#0D9488' }}&gt;likes&lt;/span&gt;（三单穿 s 补）&lt;br /&gt;My sister are dancing. → &lt;span style={{ fontWeight: 'bold', color: '#0D9488' }}&gt;is&lt;/span&gt;（单数 be 用 is）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19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414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04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英语模块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4143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语法实战：判断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造句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改错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66750" y="1257300"/>
            <a:ext cx="28575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规则背得熟，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一做题还是错？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66750" y="52863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76300" y="5257800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卡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 1 be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动词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66750" y="55340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76300" y="550545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卡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 2 there be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66750" y="57816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76300" y="5753100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卡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三单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66750" y="6029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76300" y="6000750"/>
            <a:ext cx="1019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卡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现在进行时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3867150" y="1257300"/>
            <a:ext cx="7658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038600" y="1371600"/>
            <a:ext cx="731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① </a:t>
            </a: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判断属于哪张卡，并填空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038600" y="1619250"/>
            <a:ext cx="7315200" cy="5810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She ___ (go) to school at seven. → </a:t>
            </a:r>
            <a:r>
              <a:rPr lang="en-US" sz="1088" b="1">
                <a:solidFill>
                  <a:srgbClr val="0D9488"/>
                </a:solidFill>
                <a:latin typeface="Microsoft YaHei"/>
                <a:ea typeface="Microsoft YaHei"/>
              </a:rPr>
              <a:t>goes</a:t>
            </a:r>
            <a:r>
              <a:rPr lang="zh-CN" sz="1088" b="1">
                <a:solidFill>
                  <a:srgbClr val="0D9488"/>
                </a:solidFill>
                <a:latin typeface="Microsoft YaHei"/>
                <a:ea typeface="Microsoft YaHei"/>
              </a:rPr>
              <a:t>【卡</a:t>
            </a:r>
            <a:r>
              <a:rPr lang="en-US" sz="1088" b="1">
                <a:solidFill>
                  <a:srgbClr val="0D9488"/>
                </a:solidFill>
                <a:latin typeface="Microsoft YaHei"/>
                <a:ea typeface="Microsoft YaHei"/>
              </a:rPr>
              <a:t>3</a:t>
            </a:r>
            <a:r>
              <a:rPr lang="zh-CN" sz="1088" b="1">
                <a:solidFill>
                  <a:srgbClr val="0D9488"/>
                </a:solidFill>
                <a:latin typeface="Microsoft YaHei"/>
                <a:ea typeface="Microsoft YaHei"/>
              </a:rPr>
              <a:t>】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　　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Look! The birds ___ (fly) → </a:t>
            </a:r>
            <a:r>
              <a:rPr lang="en-US" sz="1088" b="1">
                <a:solidFill>
                  <a:srgbClr val="0D9488"/>
                </a:solidFill>
                <a:latin typeface="Microsoft YaHei"/>
                <a:ea typeface="Microsoft YaHei"/>
              </a:rPr>
              <a:t>are flying</a:t>
            </a:r>
            <a:r>
              <a:rPr lang="zh-CN" sz="1088" b="1">
                <a:solidFill>
                  <a:srgbClr val="0D9488"/>
                </a:solidFill>
                <a:latin typeface="Microsoft YaHei"/>
                <a:ea typeface="Microsoft YaHei"/>
              </a:rPr>
              <a:t>【卡</a:t>
            </a:r>
            <a:r>
              <a:rPr lang="en-US" sz="1088" b="1">
                <a:solidFill>
                  <a:srgbClr val="0D9488"/>
                </a:solidFill>
                <a:latin typeface="Microsoft YaHei"/>
                <a:ea typeface="Microsoft YaHei"/>
              </a:rPr>
              <a:t>4</a:t>
            </a:r>
            <a:r>
              <a:rPr lang="zh-CN" sz="1088" b="1">
                <a:solidFill>
                  <a:srgbClr val="0D9488"/>
                </a:solidFill>
                <a:latin typeface="Microsoft YaHei"/>
                <a:ea typeface="Microsoft YaHei"/>
              </a:rPr>
              <a:t>】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___ there any water? → </a:t>
            </a:r>
            <a:r>
              <a:rPr lang="en-US" sz="1088" b="1">
                <a:solidFill>
                  <a:srgbClr val="0D9488"/>
                </a:solidFill>
                <a:latin typeface="Microsoft YaHei"/>
                <a:ea typeface="Microsoft YaHei"/>
              </a:rPr>
              <a:t>Is</a:t>
            </a:r>
            <a:r>
              <a:rPr lang="zh-CN" sz="1088" b="1">
                <a:solidFill>
                  <a:srgbClr val="0D9488"/>
                </a:solidFill>
                <a:latin typeface="Microsoft YaHei"/>
                <a:ea typeface="Microsoft YaHei"/>
              </a:rPr>
              <a:t>【卡</a:t>
            </a:r>
            <a:r>
              <a:rPr lang="en-US" sz="1088" b="1">
                <a:solidFill>
                  <a:srgbClr val="0D9488"/>
                </a:solidFill>
                <a:latin typeface="Microsoft YaHei"/>
                <a:ea typeface="Microsoft YaHei"/>
              </a:rPr>
              <a:t>2</a:t>
            </a:r>
            <a:r>
              <a:rPr lang="zh-CN" sz="1088" b="1">
                <a:solidFill>
                  <a:srgbClr val="0D9488"/>
                </a:solidFill>
                <a:latin typeface="Microsoft YaHei"/>
                <a:ea typeface="Microsoft YaHei"/>
              </a:rPr>
              <a:t>】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（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water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不可数）　　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They ___ (be) my friends. → </a:t>
            </a:r>
            <a:r>
              <a:rPr lang="en-US" sz="1088" b="1">
                <a:solidFill>
                  <a:srgbClr val="0D9488"/>
                </a:solidFill>
                <a:latin typeface="Microsoft YaHei"/>
                <a:ea typeface="Microsoft YaHei"/>
              </a:rPr>
              <a:t>are</a:t>
            </a:r>
            <a:r>
              <a:rPr lang="zh-CN" sz="1088" b="1">
                <a:solidFill>
                  <a:srgbClr val="0D9488"/>
                </a:solidFill>
                <a:latin typeface="Microsoft YaHei"/>
                <a:ea typeface="Microsoft YaHei"/>
              </a:rPr>
              <a:t>【卡</a:t>
            </a:r>
            <a:r>
              <a:rPr lang="en-US" sz="1088" b="1">
                <a:solidFill>
                  <a:srgbClr val="0D9488"/>
                </a:solidFill>
                <a:latin typeface="Microsoft YaHei"/>
                <a:ea typeface="Microsoft YaHei"/>
              </a:rPr>
              <a:t>1</a:t>
            </a:r>
            <a:r>
              <a:rPr lang="zh-CN" sz="1088" b="1">
                <a:solidFill>
                  <a:srgbClr val="0D9488"/>
                </a:solidFill>
                <a:latin typeface="Microsoft YaHei"/>
                <a:ea typeface="Microsoft YaHei"/>
              </a:rPr>
              <a:t>】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3867150" y="3019425"/>
            <a:ext cx="7658100" cy="154305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038600" y="3133725"/>
            <a:ext cx="731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② </a:t>
            </a: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用四张卡各造一句（示例）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038600" y="3381375"/>
            <a:ext cx="7315200" cy="5715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卡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1 We are in Class Four.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　卡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2 There are five apples on the table.</a:t>
            </a:r>
            <a:endParaRPr/>
          </a:p>
          <a:p>
            <a:pPr>
              <a:lnSpc>
                <a:spcPct val="170000"/>
              </a:lnSpc>
            </a:pP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卡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3 My mother works in a hospital.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　卡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4 The children are playing games now.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3867150" y="4676775"/>
            <a:ext cx="7658100" cy="1495425"/>
          </a:xfrm>
          <a:prstGeom prst="roundRect">
            <a:avLst>
              <a:gd name="adj" fmla="val 891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038600" y="4791075"/>
            <a:ext cx="731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③ </a:t>
            </a: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改错（每句一处）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038600" y="5038725"/>
            <a:ext cx="7315200" cy="5715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He like playing football. → </a:t>
            </a:r>
            <a:r>
              <a:rPr lang="en-US" sz="1088" b="1">
                <a:solidFill>
                  <a:srgbClr val="0D9488"/>
                </a:solidFill>
                <a:latin typeface="Microsoft YaHei"/>
                <a:ea typeface="Microsoft YaHei"/>
              </a:rPr>
              <a:t>likes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（三单穿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s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补）</a:t>
            </a:r>
            <a:endParaRPr/>
          </a:p>
          <a:p>
            <a:pPr>
              <a:lnSpc>
                <a:spcPct val="17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My sister are dancing. → </a:t>
            </a:r>
            <a:r>
              <a:rPr lang="en-US" sz="1088" b="1">
                <a:solidFill>
                  <a:srgbClr val="0D9488"/>
                </a:solidFill>
                <a:latin typeface="Microsoft YaHei"/>
                <a:ea typeface="Microsoft YaHei"/>
              </a:rPr>
              <a:t>is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（单数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be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用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is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0058400" y="5905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做题先问：属于哪张卡？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66750" y="3209925"/>
            <a:ext cx="2857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根因：规则停在「背诵层」，没变成「拿来就用」的句型卡。实战三组题，把四张卡用起来。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19 / 28</a:t>
            </a:r>
            <a:endParaRPr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&lt;Slide style={{ width: 1280, height: 720, background: '#1A1A1A', position: 'relative', overflow: 'hidden' }}&gt;   &lt;Image src=&quot;assets/sec_math.png&quot; style={{ position: 'absolute', top: 0, left: 0, width: 1280, height: 720, objectFit: 'cover' }} /&gt;   &lt;Box style={{ position: 'absolute', top: 0, left: 0, width: 1280, height: 720, background: 'linear-gradient(90deg, rgba(13,148,136,0.80) 0%, rgba(13,148,136,0.42) 52%, rgba(26,26,26,0.12) 100%)' }} /&gt;   &lt;Box style={{ position: 'absolute', top: 0, left: 0, width: 720, height: 720, padding: '0 0 0 90px', display: 'flex', flexDirection: 'column', justifyContent: 'center', gap: 24 }}&gt;     &lt;Text style={{ fontSize: 96, fontWeight: 'bold', color: '#FAF7F2', opacity: 0.35, lineHeight: 1 }}&gt;05&lt;/Text&gt;     &lt;Text style={{ fontSize: 64, fontWeight: 'bold', color: '#FAF7F2', letterSpacing: 6 }}&gt;数学模块&lt;/Text&gt;     &lt;Box style={{ width: 88, height: 6, background: '#F97316', borderRadius: 3 }} /&gt;     &lt;Text style={{ fontSize: 24, color: '#FAF7F2', lineHeight: 1.6, opacity: 0.95 }}&gt;粗心不是病，没方法才是——&lt;br /&gt;防错、画图、检查，三招治「马虎」。&lt;/Text&gt;   &lt;/Box&gt;   &lt;Box style={{ position: 'absolute', right: 70, bottom: 40 }}&gt;     &lt;Text style={{ fontSize: 14, color: '#FAF7F2', opacity: 0.7 }}&gt;20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pic>
        <p:nvPicPr>
          <p:cNvPr id="343" name=""/>
          <p:cNvPicPr>
            <a:picLocks noChangeAspect="1"/>
          </p:cNvPicPr>
          <p:nvPr/>
        </p:nvPicPr>
        <p:blipFill>
          <a:blip r:embed="rId1"/>
          <a:srcRect l="0" t="5927" r="0" b="5927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9488">
                  <a:alpha val="80000"/>
                </a:srgbClr>
              </a:gs>
              <a:gs pos="52000">
                <a:srgbClr val="0D9488">
                  <a:alpha val="42000"/>
                </a:srgbClr>
              </a:gs>
              <a:gs pos="100000">
                <a:srgbClr val="1A1A1A">
                  <a:alpha val="1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60007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 spc="450">
                <a:solidFill>
                  <a:srgbClr val="FAF7F2"/>
                </a:solidFill>
                <a:latin typeface="Microsoft YaHei"/>
                <a:ea typeface="Microsoft YaHei"/>
              </a:rPr>
              <a:t>数学模块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857250" y="3990975"/>
            <a:ext cx="8382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57250" y="1695450"/>
            <a:ext cx="6000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AF7F2">
                    <a:alpha val="35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57250" y="4276725"/>
            <a:ext cx="6000750" cy="8858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粗心不是病，没方法才是——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防错、画图、检查，三招治「马虎」。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11567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7F2">
                    <a:alpha val="70000"/>
                  </a:srgbClr>
                </a:solidFill>
                <a:latin typeface="Microsoft YaHei"/>
                <a:ea typeface="Microsoft YaHei"/>
              </a:rPr>
              <a:t>20 / 28</a:t>
            </a:r>
            <a:endParaRPr/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350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5 数学模块&lt;/Text&gt;       &lt;Text style={{ fontSize: 34, fontWeight: 'bold', color: '#1A1A1A' }}&gt;计算粗心：防错四步&lt;/Text&gt;     &lt;/Box&gt;     &lt;Text style={{ fontSize: 14, color: '#1A1A1A', opacity: 0.55 }}&gt;错的不是「不会」，是「不稳」&lt;/Text&gt;   &lt;/Box&gt;   &lt;Box style={{ width: 1280, height: 540, padding: '12px 70px', flexDirection: 'row', gap: 36 }}&gt;     &lt;Box style={{ flex: 1, flexDirection: 'column', gap: 12 }}&gt;       &lt;Box style={{ background: '#FFFFFF', borderRadius: 14, padding: '14px 20px', boxShadow: '0 2px 10px rgba(26,26,26,0.05)', flexDirection: 'row', gap: 20 }}&gt;         &lt;Box style={{ flex: 1 }}&gt;           &lt;Text style={{ fontSize: 14, fontWeight: 'bold', color: '#0D9488' }}&gt;✓ 正解（进位写出标记）&lt;/Text&gt;           &lt;Text style={{ fontSize: 22, color: '#1A1A1A', lineHeight: 1.7, marginTop: 6 }}&gt;　&lt;span style={{ fontSize: 13, color: '#0D9488' }}&gt;4 3&lt;/span&gt;&lt;br /&gt;4 5 8&lt;br /&gt;×　　　6&lt;br /&gt;─────&lt;br /&gt;&lt;span style={{ fontWeight: 'bold', color: '#0D9488' }}&gt;2 7 4 8&lt;/span&gt;&lt;/Text&gt;         &lt;/Box&gt;         &lt;Box style={{ flex: 1 }}&gt;           &lt;Text style={{ fontSize: 14, fontWeight: 'bold', color: '#F97316' }}&gt;✕ 错解 2648（进位忘加）&lt;/Text&gt;           &lt;Text style={{ fontSize: 13.5, color: '#1A1A1A', opacity: 0.8, lineHeight: 1.65, marginTop: 6 }}&gt;个位 8×6=48 写 8 进 4；十位 5×6=30 加进位 4 得 34；&lt;br /&gt;百位 4×6=24 &lt;span style={{ fontWeight: 'bold', color: '#F97316' }}&gt;忘加进位 3&lt;/span&gt;，脑子里记成 2 → 全题报废。&lt;/Text&gt;         &lt;/Box&gt;       &lt;/Box&gt;       &lt;Box style={{ flex: 1, background: 'rgba(249,115,22,0.08)', borderRadius: 14, padding: '12px 18px' }}&gt;         &lt;Text style={{ fontSize: 14.5, color: '#1A1A1A', lineHeight: 1.65 }}&gt;&lt;span style={{ fontWeight: 'bold', color: '#F97316' }}&gt;训练：&lt;/span&gt;① 限时 5 分钟：368×4、507×3、1003−486、504−278、125×8（答案：1472 / 1521 / 517 / 226 / 1000）；② 当小老师找错：267+358=615（十位忘加进位，应 625）；402−158=254（退位后仍按 10−5 算，应 244）。&lt;/Text&gt;       &lt;/Box&gt;     &lt;/Box&gt;     &lt;Box style={{ flex: 0.85, flexDirection: 'column', gap: 10 }}&gt;       {[         { n: '1', t: '抄题三秒核对', d: '抄完抬头前，手指原题逐字对一遍（数字＋符号）' },         { n: '2', t: '竖式分块', d: '草稿一题一格，题号标清楚，不混用' },         { n: '3', t: '进位退位写标记', d: '进位点、退位点写在纸上，不靠脑子记' },         { n: '4', t: '逆运算验算', d: '加用减验、乘用除验，30 秒不亏' },       ].map((s, i) =&gt; (         &lt;Box key={i} style={{ flex: 1, background: '#FFFFFF', borderRadius: 12, padding: '10px 16px', boxShadow: '0 2px 8px rgba(26,26,26,0.05)', flexDirection: 'row', alignItems: 'center', gap: 12 }}&gt;           &lt;Box style={{ width: 36, height: 36, borderRadius: 18, background: i === 3 ? '#0D9488' : '#F97316', justifyContent: 'center', alignItems: 'center' }}&gt;             &lt;Text style={{ fontSize: 18, fontWeight: 'bold', color: '#FAF7F2' }}&gt;{s.n}&lt;/Text&gt;           &lt;/Box&gt;           &lt;Box style={{ flex: 1 }}&gt;             &lt;Text style={{ fontSize: 16.5, fontWeight: 'bold', color: '#1A1A1A' }}&gt;{s.t}&lt;/Text&gt;             &lt;Text style={{ fontSize: 13.5, color: '#1A1A1A', opacity: 0.7, lineHeight: 1.4 }}&gt;{s.d}&lt;/Text&gt;           &lt;/Box&gt;         &lt;/Box&gt;       ))}       &lt;Box style={{ background: '#1A1A1A', borderRadius: 12, padding: '10px 16px' }}&gt;         &lt;Text style={{ fontSize: 14.5, color: '#FAF7F2', lineHeight: 1.55 }}&gt;根因（A·分析）：跳步骤心算、抄题不看回头、进位只在脑里标记——&lt;span style={{ fontWeight: 'bold', color: '#F97316' }}&gt;四步就是补这三个洞。&lt;/span&gt;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21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05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数学模块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计算粗心：防错四步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66750" y="1257300"/>
            <a:ext cx="5686425" cy="2628900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D9488"/>
                </a:solidFill>
                <a:latin typeface="Microsoft YaHei"/>
                <a:ea typeface="Microsoft YaHei"/>
              </a:rPr>
              <a:t>✓ </a:t>
            </a:r>
            <a:r>
              <a:rPr lang="zh-CN" sz="1050" b="1">
                <a:solidFill>
                  <a:srgbClr val="0D9488"/>
                </a:solidFill>
                <a:latin typeface="Microsoft YaHei"/>
                <a:ea typeface="Microsoft YaHei"/>
              </a:rPr>
              <a:t>正解（进位写出标记）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57250" y="1609725"/>
            <a:ext cx="2562225" cy="2143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1A1A1A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0D9488"/>
                </a:solidFill>
                <a:latin typeface="Microsoft YaHei"/>
                <a:ea typeface="Microsoft YaHei"/>
              </a:rPr>
              <a:t>4 3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1A1A"/>
                </a:solidFill>
                <a:latin typeface="Microsoft YaHei"/>
                <a:ea typeface="Microsoft YaHei"/>
              </a:rPr>
              <a:t>4 5 8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1A1A1A"/>
                </a:solidFill>
                <a:latin typeface="Microsoft YaHei"/>
                <a:ea typeface="Microsoft YaHei"/>
              </a:rPr>
              <a:t>×　　　</a:t>
            </a:r>
            <a:r>
              <a:rPr lang="en-US" sz="1650">
                <a:solidFill>
                  <a:srgbClr val="1A1A1A"/>
                </a:solidFill>
                <a:latin typeface="Microsoft YaHei"/>
                <a:ea typeface="Microsoft YaHei"/>
              </a:rPr>
              <a:t>6</a:t>
            </a:r>
            <a:endParaRPr/>
          </a:p>
          <a:p>
            <a:pPr>
              <a:lnSpc>
                <a:spcPct val="170000"/>
              </a:lnSpc>
            </a:pPr>
            <a:r>
              <a:rPr sz="1650">
                <a:solidFill>
                  <a:srgbClr val="1A1A1A"/>
                </a:solidFill>
                <a:latin typeface="Microsoft YaHei"/>
                <a:ea typeface="Microsoft YaHei"/>
              </a:rPr>
              <a:t>─────</a:t>
            </a:r>
            <a:endParaRPr/>
          </a:p>
          <a:p>
            <a:pPr>
              <a:lnSpc>
                <a:spcPct val="170000"/>
              </a:lnSpc>
            </a:pPr>
            <a:r>
              <a:rPr lang="en-US" sz="1650" b="1">
                <a:solidFill>
                  <a:srgbClr val="0D9488"/>
                </a:solidFill>
                <a:latin typeface="Microsoft YaHei"/>
                <a:ea typeface="Microsoft YaHei"/>
              </a:rPr>
              <a:t>2 7 4 8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3609975" y="1390650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97316"/>
                </a:solidFill>
                <a:latin typeface="Microsoft YaHei"/>
                <a:ea typeface="Microsoft YaHei"/>
              </a:rPr>
              <a:t>✕ </a:t>
            </a:r>
            <a:r>
              <a:rPr lang="zh-CN" sz="1050" b="1">
                <a:solidFill>
                  <a:srgbClr val="F97316"/>
                </a:solidFill>
                <a:latin typeface="Microsoft YaHei"/>
                <a:ea typeface="Microsoft YaHei"/>
              </a:rPr>
              <a:t>错解</a:t>
            </a:r>
            <a:r>
              <a:rPr lang="en-US" sz="1050" b="1">
                <a:solidFill>
                  <a:srgbClr val="F97316"/>
                </a:solidFill>
                <a:latin typeface="Microsoft YaHei"/>
                <a:ea typeface="Microsoft YaHei"/>
              </a:rPr>
              <a:t> 2648</a:t>
            </a:r>
            <a:r>
              <a:rPr lang="zh-CN" sz="1050" b="1">
                <a:solidFill>
                  <a:srgbClr val="F97316"/>
                </a:solidFill>
                <a:latin typeface="Microsoft YaHei"/>
                <a:ea typeface="Microsoft YaHei"/>
              </a:rPr>
              <a:t>（进位忘加）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66750" y="4000500"/>
            <a:ext cx="5686425" cy="2171700"/>
          </a:xfrm>
          <a:prstGeom prst="roundRect">
            <a:avLst>
              <a:gd name="adj" fmla="val 6140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38200" y="4114800"/>
            <a:ext cx="53435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 b="1">
                <a:solidFill>
                  <a:srgbClr val="F97316"/>
                </a:solidFill>
                <a:latin typeface="Microsoft YaHei"/>
                <a:ea typeface="Microsoft YaHei"/>
              </a:rPr>
              <a:t>训练：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①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限时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5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分钟：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368×4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507×3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1003−486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504−278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125×8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（答案：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1472 / 1521 / 517 / 226 / 1000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）；②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当小老师找错：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267+358=615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（十位忘加进位，应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625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）；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402−158=254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（退位后仍按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10−5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算，应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244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696075" y="1257300"/>
            <a:ext cx="4829175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6848475" y="15716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972300" y="1638300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7F2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305675" y="1533525"/>
            <a:ext cx="4067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抄题三秒核对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6696075" y="2314575"/>
            <a:ext cx="48291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6848475" y="26193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972300" y="2686050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7F2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305675" y="2590800"/>
            <a:ext cx="4067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竖式分块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696075" y="3362325"/>
            <a:ext cx="4829175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6848475" y="36766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972300" y="374332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7F2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7305675" y="3638550"/>
            <a:ext cx="4067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进位退位写标记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696075" y="4419600"/>
            <a:ext cx="48291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6848475" y="47244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972300" y="47910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7F2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305675" y="4695825"/>
            <a:ext cx="4067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逆运算验算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6696075" y="5467350"/>
            <a:ext cx="4829175" cy="704850"/>
          </a:xfrm>
          <a:prstGeom prst="roundRect">
            <a:avLst>
              <a:gd name="adj" fmla="val 1621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848475" y="5562600"/>
            <a:ext cx="45243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FAF7F2"/>
                </a:solidFill>
                <a:latin typeface="Microsoft YaHei"/>
                <a:ea typeface="Microsoft YaHei"/>
              </a:rPr>
              <a:t>根因（</a:t>
            </a:r>
            <a:r>
              <a:rPr lang="en-US" sz="1088">
                <a:solidFill>
                  <a:srgbClr val="FAF7F2"/>
                </a:solidFill>
                <a:latin typeface="Microsoft YaHei"/>
                <a:ea typeface="Microsoft YaHei"/>
              </a:rPr>
              <a:t>A·</a:t>
            </a:r>
            <a:r>
              <a:rPr lang="zh-CN" sz="1088">
                <a:solidFill>
                  <a:srgbClr val="FAF7F2"/>
                </a:solidFill>
                <a:latin typeface="Microsoft YaHei"/>
                <a:ea typeface="Microsoft YaHei"/>
              </a:rPr>
              <a:t>分析）：跳步骤心算、抄题不看回头、进位只在脑里标记——</a:t>
            </a:r>
            <a:r>
              <a:rPr lang="zh-CN" sz="1088" b="1">
                <a:solidFill>
                  <a:srgbClr val="F97316"/>
                </a:solidFill>
                <a:latin typeface="Microsoft YaHei"/>
                <a:ea typeface="Microsoft YaHei"/>
              </a:rPr>
              <a:t>四步就是补这三个洞。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658350" y="59055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错的不是「不会」，是「不稳」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609975" y="1609725"/>
            <a:ext cx="25527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个位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8×6=48 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写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8 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进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4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；十位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5×6=30 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加进位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4 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得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34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；</a:t>
            </a:r>
            <a:endParaRPr/>
          </a:p>
          <a:p>
            <a:pPr>
              <a:lnSpc>
                <a:spcPct val="165000"/>
              </a:lnSpc>
            </a:pP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百位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4×6=24 </a:t>
            </a:r>
            <a:r>
              <a:rPr lang="zh-CN" sz="1013" b="1">
                <a:solidFill>
                  <a:srgbClr val="F97316">
                    <a:alpha val="80000"/>
                  </a:srgbClr>
                </a:solidFill>
                <a:latin typeface="Microsoft YaHei"/>
                <a:ea typeface="Microsoft YaHei"/>
              </a:rPr>
              <a:t>忘加进位</a:t>
            </a:r>
            <a:r>
              <a:rPr lang="en-US" sz="1013" b="1">
                <a:solidFill>
                  <a:srgbClr val="F97316">
                    <a:alpha val="80000"/>
                  </a:srgbClr>
                </a:solidFill>
                <a:latin typeface="Microsoft YaHei"/>
                <a:ea typeface="Microsoft YaHei"/>
              </a:rPr>
              <a:t> 3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，脑子里记成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2 → 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全题报废。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305675" y="1724025"/>
            <a:ext cx="4067175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抄完抬头前，手指原题逐字对一遍（数字＋符号）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305675" y="2781300"/>
            <a:ext cx="4067175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草稿一题一格，题号标清楚，不混用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305675" y="3829050"/>
            <a:ext cx="4067175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进位点、退位点写在纸上，不靠脑子记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305675" y="4886325"/>
            <a:ext cx="4067175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加用减验、乘用除验，</a:t>
            </a:r>
            <a:r>
              <a:rPr lang="en-US" sz="1013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30 </a:t>
            </a:r>
            <a:r>
              <a:rPr lang="zh-CN" sz="1013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秒不亏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21 / 28</a:t>
            </a:r>
            <a:endParaRPr/>
          </a:p>
        </p:txBody>
      </p:sp>
    </p:spTree>
  </p:cSld>
</p:sld>
</file>

<file path=ppt/slides/slide2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88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5 数学模块&lt;/Text&gt;       &lt;Text style={{ fontSize: 34, fontWeight: 'bold', color: '#1A1A1A' }}&gt;图解数学：让题目「画」出来&lt;/Text&gt;     &lt;/Box&gt;     &lt;Text style={{ fontSize: 14, color: '#1A1A1A', opacity: 0.55 }}&gt;审题四步：一读二圈三画四列&lt;/Text&gt;   &lt;/Box&gt;   &lt;Box style={{ width: 1280, height: 540, padding: '12px 70px', flexDirection: 'row', gap: 36 }}&gt;     &lt;Box style={{ flex: 1.2, justifyContent: 'center' }}&gt;       &lt;svg width={600} height={430} viewBox='0 0 600 430'&gt;         &lt;text x='20' y='34' fill='#1A1A1A' fontSize='19' fontWeight='bold'&gt;两根绳子一共 48 米，长绳比短绳多 6 米，求各多长？&lt;/text&gt;         &lt;text x='20' y='110' fill='#0D9488' fontSize='17' fontWeight='bold'&gt;短绳&lt;/text&gt;         &lt;rect x='90' y='92' width='330' height='34' rx='6' fill='rgba(13,148,136,0.25)' stroke='#0D9488' strokeWidth='2' /&gt;         &lt;text x='255' y='115' fill='#0D9488' fontSize='16' fontWeight='bold'&gt;21 米&lt;/text&gt;         &lt;text x='20' y='185' fill='#F97316' fontSize='17' fontWeight='bold'&gt;长绳&lt;/text&gt;         &lt;rect x='90' y='167' width='330' height='34' rx='6' fill='rgba(249,115,22,0.22)' stroke='#F97316' strokeWidth='2' /&gt;         &lt;rect x='420' y='167' width='54' height='34' rx='6' fill='#F97316' /&gt;         &lt;text x='447' y='190' fill='#FAF7F2' fontSize='15' fontWeight='bold' textAnchor='middle'&gt;6米&lt;/text&gt;         &lt;text x='255' y='189' fill='#F97316' fontSize='16' fontWeight='bold' textAnchor='middle'&gt;21 米&lt;/text&gt;         &lt;path d='M 90 225 L 474 225' stroke='#1A1A1A' strokeWidth='2' /&gt;         &lt;path d='M 90 219 L 90 231 M 474 219 L 474 231' stroke='#1A1A1A' strokeWidth='2' /&gt;         &lt;text x='282' y='248' fill='#1A1A1A' fontSize='15' textAnchor='middle'&gt;48 − 6 = 42，平均分 2 份&lt;/text&gt;         &lt;rect x='20' y='282' width='556' height='118' rx='12' fill='rgba(13,148,136,0.08)' /&gt;         &lt;text x='40' y='316' fill='#1A1A1A' fontSize='17' fontWeight='bold'&gt;列式：(48 − 6) ÷ 2 = 21（短绳），21 + 6 = 27（长绳）&lt;/text&gt;         &lt;text x='40' y='350' fill='#0D9488' fontSize='16'&gt;验算：21 + 27 = 48 ✓　　27 − 21 = 6 ✓&lt;/text&gt;         &lt;text x='40' y='382' fill='#1A1A1A' fontSize='14.5' opacity='0.7'&gt;没有图：脑子一团乱麻；有图：多的一截一眼看到——先减后分。&lt;/text&gt;       &lt;/svg&gt;     &lt;/Box&gt;     &lt;Box style={{ flex: 0.8, flexDirection: 'column', justifyContent: 'space-between', padding: '4px 0' }}&gt;       &lt;Text style={{ fontSize: 16, color: '#1A1A1A', opacity: 0.75, lineHeight: 1.6 }}&gt;根因：文字→数学的「翻译」能力没建立，又没有画图工具，全靠脑子想。&lt;/Text&gt;       {[         { n: '一读', d: '完整读一遍，不急着列式' },         { n: '二圈', d: '圈数字和关键词：一共、还剩、倍、多多少' },         { n: '三画', d: '线段图、示意图、列表——把题画出来' },         { n: '四列', d: '看图列式，再验算' },       ].map((s, i) =&gt; (         &lt;Box key={i} style={{ flexDirection: 'row', alignItems: 'center', gap: 12 }}&gt;           &lt;Box style={{ width: 64, height: 40, borderRadius: 10, background: i % 2 === 0 ? '#F97316' : '#0D9488', justifyContent: 'center', alignItems: 'center' }}&gt;             &lt;Text style={{ fontSize: 16, fontWeight: 'bold', color: '#FAF7F2' }}&gt;{s.n}&lt;/Text&gt;           &lt;/Box&gt;           &lt;Text style={{ flex: 1, fontSize: 14.5, color: '#1A1A1A', lineHeight: 1.45 }}&gt;{s.d}&lt;/Text&gt;         &lt;/Box&gt;       ))}       &lt;Box style={{ background: 'rgba(249,115,22,0.08)', borderRadius: 12, padding: '12px 16px' }}&gt;         &lt;Text style={{ fontSize: 14, color: '#1A1A1A', lineHeight: 1.6 }}&gt;&lt;span style={{ fontWeight: 'bold', color: '#F97316' }}&gt;训练（先自己列式再对照）：&lt;/span&gt;① 甲乙共 60 元，甲是乙 3 倍 → 画 1 段＋3 段共 4 段，60÷4=15，乙 15 甲 45（验算 45÷15=3 ✓）；② 长方形长增加 3 米面积增 15㎡ → 贴一条 3 米宽长条，15÷3=宽 5 米。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22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05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数学模块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图解数学：让题目「画」出来</a:t>
            </a:r>
            <a:endParaRPr/>
          </a:p>
        </p:txBody>
      </p:sp>
      <p:pic>
        <p:nvPicPr>
          <p:cNvPr id="3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1666875"/>
            <a:ext cx="5715000" cy="4095750"/>
          </a:xfrm>
          <a:prstGeom prst="rect">
            <a:avLst/>
          </a:prstGeom>
          <a:ln/>
        </p:spPr>
      </p:pic>
      <p:sp>
        <p:nvSpPr>
          <p:cNvPr id="393" name=""/>
          <p:cNvSpPr/>
          <p:nvPr/>
        </p:nvSpPr>
        <p:spPr>
          <a:xfrm rot="0" flipH="0" flipV="0">
            <a:off x="7315200" y="2181225"/>
            <a:ext cx="609600" cy="3810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467600" y="22764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F7F2"/>
                </a:solidFill>
                <a:latin typeface="Microsoft YaHei"/>
                <a:ea typeface="Microsoft YaHei"/>
              </a:rPr>
              <a:t>一读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039100" y="2247900"/>
            <a:ext cx="3486150" cy="2476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完整读一遍，不急着列式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7315200" y="2857500"/>
            <a:ext cx="609600" cy="381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467600" y="29527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F7F2"/>
                </a:solidFill>
                <a:latin typeface="Microsoft YaHei"/>
                <a:ea typeface="Microsoft YaHei"/>
              </a:rPr>
              <a:t>二圈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039100" y="2924175"/>
            <a:ext cx="3486150" cy="2476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圈数字和关键词：一共、还剩、倍、多多少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7315200" y="3524250"/>
            <a:ext cx="609600" cy="3810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467600" y="36195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F7F2"/>
                </a:solidFill>
                <a:latin typeface="Microsoft YaHei"/>
                <a:ea typeface="Microsoft YaHei"/>
              </a:rPr>
              <a:t>三画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039100" y="3590925"/>
            <a:ext cx="3486150" cy="2476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线段图、示意图、列表——把题画出来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7315200" y="4200525"/>
            <a:ext cx="609600" cy="381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467600" y="42957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F7F2"/>
                </a:solidFill>
                <a:latin typeface="Microsoft YaHei"/>
                <a:ea typeface="Microsoft YaHei"/>
              </a:rPr>
              <a:t>四列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039100" y="4267200"/>
            <a:ext cx="3486150" cy="2476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看图列式，再验算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7315200" y="4876800"/>
            <a:ext cx="4210050" cy="1257300"/>
          </a:xfrm>
          <a:prstGeom prst="roundRect">
            <a:avLst>
              <a:gd name="adj" fmla="val 9091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467600" y="4991100"/>
            <a:ext cx="39052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F97316"/>
                </a:solidFill>
                <a:latin typeface="Microsoft YaHei"/>
                <a:ea typeface="Microsoft YaHei"/>
              </a:rPr>
              <a:t>训练（先自己列式再对照）：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①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甲乙共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60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元，甲是乙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倍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画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段＋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3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段共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段，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60÷4=15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，乙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15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甲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45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（验算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45÷15=3 ✓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）；②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长方形长增加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米面积增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15㎡ →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贴一条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米宽长条，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15÷3=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宽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5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米。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9791700" y="59055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审题四步：一读二圈三画四列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315200" y="1295400"/>
            <a:ext cx="4210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根因：文字→数学的「翻译」能力没建立，又没有画图工具，全靠脑子想。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22 / 28</a:t>
            </a:r>
            <a:endParaRPr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413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5 数学模块&lt;/Text&gt;       &lt;Text style={{ fontSize: 34, fontWeight: 'bold', color: '#1A1A1A' }}&gt;漏题漏单位？交卷前三查&lt;/Text&gt;     &lt;/Box&gt;     &lt;Text style={{ fontSize: 14, color: '#1A1A1A', opacity: 0.55 }}&gt;检查靠清单，不靠感觉&lt;/Text&gt;   &lt;/Box&gt;   &lt;Box style={{ width: 1280, height: 540, padding: '12px 70px', flexDirection: 'row', gap: 36 }}&gt;     &lt;Box style={{ width: 330, display: 'flex', flexDirection: 'column', justifyContent: 'space-between' }}&gt;       &lt;Box style={{ background: '#F97316', borderRadius: 16, padding: '20px 22px' }}&gt;         &lt;Text style={{ fontSize: 17, color: '#FAF7F2', opacity: 0.9 }}&gt;一道题三个小遗漏&lt;/Text&gt;         &lt;Text style={{ fontSize: 76, fontWeight: 'bold', color: '#FAF7F2', lineHeight: 1.1 }}&gt;白丢 4 分&lt;/Text&gt;         &lt;Text style={{ fontSize: 15, color: '#FAF7F2', opacity: 0.92, lineHeight: 1.6, marginTop: 8 }}&gt;漏「解：」丢 1 分＋漏单位丢 1 分＋漏答句丢 2 分。检查 1 分钟，常能找回 3~5 分；三门就是 12 分——可能差出十几个名次！&lt;/Text&gt;       &lt;/Box&gt;       &lt;Text style={{ fontSize: 15, color: '#1A1A1A', opacity: 0.7, lineHeight: 1.6 }}&gt;根因：做完就交，没有「检查动作清单」——把检查变成和刷牙一样的固定动作。&lt;/Text&gt;     &lt;/Box&gt;     &lt;Box style={{ flex: 1, flexDirection: 'column', gap: 12 }}&gt;       {[         { n: '一查 · 漏题', d: '翻页看背面、数一数题号有没有跳——做完一题划掉一个题号' },         { n: '二查 · 单位', d: '应用题的「单位＋答句」写了吗？该用「约等于」了吗？' },         { n: '三查 · 抄写', d: '从草稿誊到试卷，数字抄对了吗？' },       ].map((c, i) =&gt; (         &lt;Box key={i} style={{ flex: 1, background: '#FFFFFF', borderRadius: 14, padding: '12px 18px', boxShadow: '0 2px 8px rgba(26,26,26,0.05)', flexDirection: 'row', alignItems: 'center', gap: 14 }}&gt;           &lt;Box style={{ width: 34, height: 34, borderRadius: 8, border: '2.5px solid #0D9488', justifyContent: 'center', alignItems: 'center' }}&gt;             &lt;Text style={{ fontSize: 20, fontWeight: 'bold', color: '#0D9488' }}&gt;✓&lt;/Text&gt;           &lt;/Box&gt;           &lt;Box style={{ flex: 1 }}&gt;             &lt;Text style={{ fontSize: 18, fontWeight: 'bold', color: '#1A1A1A' }}&gt;{c.n}&lt;/Text&gt;             &lt;Text style={{ fontSize: 14.5, color: '#1A1A1A', opacity: 0.75, lineHeight: 1.5 }}&gt;{c.d}&lt;/Text&gt;           &lt;/Box&gt;         &lt;/Box&gt;       ))}       &lt;Box style={{ flex: 1.15, background: 'rgba(13,148,136,0.08)', borderRadius: 14, padding: '12px 18px' }}&gt;         &lt;Text style={{ fontSize: 15, fontWeight: 'bold', color: '#0D9488' }}&gt;找茬训练&lt;/Text&gt;         &lt;Text style={{ fontSize: 14, color: '#1A1A1A', lineHeight: 1.6, marginTop: 4 }}&gt;题目：3 盒钢笔每盒 12 支，卖出 18 支还剩多少？小明卷面写「3×12=38，38−18=20」。请挑 3 处问题。&lt;/Text&gt;         &lt;Text style={{ fontSize: 14, color: '#1A1A1A', lineHeight: 1.6, marginTop: 6 }}&gt;&lt;span style={{ fontWeight: 'bold', color: '#0D9488' }}&gt;答案：&lt;/span&gt;①抄错数（36 誊成 38）②没写单位「支」③没写答句。正确：3×12=36（支），36−18=18（支）。答：还剩 18 支。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23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05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数学模块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漏题漏单位？交卷前三查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66750" y="1257300"/>
            <a:ext cx="3143250" cy="3676650"/>
          </a:xfrm>
          <a:prstGeom prst="roundRect">
            <a:avLst>
              <a:gd name="adj" fmla="val 4848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724150" cy="1914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AF7F2"/>
                </a:solidFill>
                <a:latin typeface="Microsoft YaHei"/>
                <a:ea typeface="Microsoft YaHei"/>
              </a:rPr>
              <a:t>白丢</a:t>
            </a:r>
            <a:r>
              <a:rPr lang="en-US" sz="5700" b="1">
                <a:solidFill>
                  <a:srgbClr val="FAF7F2"/>
                </a:solidFill>
                <a:latin typeface="Microsoft YaHei"/>
                <a:ea typeface="Microsoft YaHei"/>
              </a:rPr>
              <a:t> 4 </a:t>
            </a:r>
            <a:r>
              <a:rPr lang="zh-CN" sz="5700" b="1">
                <a:solidFill>
                  <a:srgbClr val="FAF7F2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4152900" y="1257300"/>
            <a:ext cx="73723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4324350" y="1590675"/>
            <a:ext cx="323850" cy="323850"/>
          </a:xfrm>
          <a:prstGeom prst="roundRect">
            <a:avLst>
              <a:gd name="adj" fmla="val 23529"/>
            </a:avLst>
          </a:prstGeom>
          <a:ln w="317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4410075" y="1638300"/>
            <a:ext cx="161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4781550" y="1524000"/>
            <a:ext cx="6572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一查</a:t>
            </a: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漏题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4152900" y="2362200"/>
            <a:ext cx="73723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4324350" y="2695575"/>
            <a:ext cx="323850" cy="323850"/>
          </a:xfrm>
          <a:prstGeom prst="roundRect">
            <a:avLst>
              <a:gd name="adj" fmla="val 23529"/>
            </a:avLst>
          </a:prstGeom>
          <a:ln w="317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410075" y="2743200"/>
            <a:ext cx="161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4781550" y="2628900"/>
            <a:ext cx="6572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二查</a:t>
            </a: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单位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4152900" y="3467100"/>
            <a:ext cx="73723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4324350" y="3800475"/>
            <a:ext cx="323850" cy="323850"/>
          </a:xfrm>
          <a:prstGeom prst="roundRect">
            <a:avLst>
              <a:gd name="adj" fmla="val 23529"/>
            </a:avLst>
          </a:prstGeom>
          <a:ln w="317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4410075" y="3848100"/>
            <a:ext cx="161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4781550" y="3733800"/>
            <a:ext cx="6572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三查</a:t>
            </a: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抄写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4152900" y="4572000"/>
            <a:ext cx="7372350" cy="1600200"/>
          </a:xfrm>
          <a:prstGeom prst="roundRect">
            <a:avLst>
              <a:gd name="adj" fmla="val 8333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324350" y="4686300"/>
            <a:ext cx="7029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D9488"/>
                </a:solidFill>
                <a:latin typeface="Microsoft YaHei"/>
                <a:ea typeface="Microsoft YaHei"/>
              </a:rPr>
              <a:t>找茬训练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4324350" y="4895850"/>
            <a:ext cx="70294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题目：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3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盒钢笔每盒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12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支，卖出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18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支还剩多少？小明卷面写「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3×12=38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38−18=20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」。请挑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处问题。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324350" y="5210175"/>
            <a:ext cx="7029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0D9488"/>
                </a:solidFill>
                <a:latin typeface="Microsoft YaHei"/>
                <a:ea typeface="Microsoft YaHei"/>
              </a:rPr>
              <a:t>答案：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①抄错数（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36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誊成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38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）②没写单位「支」③没写答句。正确：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3×12=36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（支），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36−18=18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（支）。答：还剩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18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支。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10191750" y="5905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检查靠清单，不靠感觉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76300" y="1447800"/>
            <a:ext cx="2724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一道题三个小遗漏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76300" y="3638550"/>
            <a:ext cx="27241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漏「解：」丢</a:t>
            </a:r>
            <a:r>
              <a:rPr lang="en-US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分＋漏单位丢</a:t>
            </a:r>
            <a:r>
              <a:rPr lang="en-US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分＋漏答句丢</a:t>
            </a:r>
            <a:r>
              <a:rPr lang="en-US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 2 </a:t>
            </a: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分。检查</a:t>
            </a:r>
            <a:r>
              <a:rPr lang="en-US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分钟，常能找回</a:t>
            </a:r>
            <a:r>
              <a:rPr lang="en-US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 3~5 </a:t>
            </a: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分；三门就是</a:t>
            </a:r>
            <a:r>
              <a:rPr lang="en-US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 12 </a:t>
            </a: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分——可能差出十几个名次！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66750" y="5619750"/>
            <a:ext cx="3143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A1A1A">
                    <a:alpha val="70000"/>
                  </a:srgbClr>
                </a:solidFill>
                <a:latin typeface="Microsoft YaHei"/>
                <a:ea typeface="Microsoft YaHei"/>
              </a:rPr>
              <a:t>根因：做完就交，没有「检查动作清单」——把检查变成和刷牙一样的固定动作。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4781550" y="1733550"/>
            <a:ext cx="657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翻页看背面、数一数题号有没有跳——做完一题划掉一个题号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4781550" y="2838450"/>
            <a:ext cx="657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应用题的「单位＋答句」写了吗？该用「约等于」了吗？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4781550" y="3943350"/>
            <a:ext cx="657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从草稿誊到试卷，数字抄对了吗？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23 / 28</a:t>
            </a:r>
            <a:endParaRPr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6" name="" descr="&lt;Slide style={{ width: 1280, height: 720, background: '#1A1A1A', position: 'relative', overflow: 'hidden' }}&gt;   &lt;Image src=&quot;assets/sec_habit.png&quot; style={{ position: 'absolute', top: 0, left: 0, width: 1280, height: 720, objectFit: 'cover' }} /&gt;   &lt;Box style={{ position: 'absolute', top: 0, left: 0, width: 1280, height: 720, background: 'linear-gradient(90deg, rgba(249,115,22,0.80) 0%, rgba(249,115,22,0.42) 52%, rgba(26,26,26,0.12) 100%)' }} /&gt;   &lt;Box style={{ position: 'absolute', top: 0, left: 0, width: 720, height: 720, padding: '0 0 0 90px', display: 'flex', flexDirection: 'column', justifyContent: 'center', gap: 24 }}&gt;     &lt;Text style={{ fontSize: 96, fontWeight: 'bold', color: '#FAF7F2', opacity: 0.35, lineHeight: 1 }}&gt;06&lt;/Text&gt;     &lt;Text style={{ fontSize: 64, fontWeight: 'bold', color: '#FAF7F2', letterSpacing: 6 }}&gt;好习惯与总结&lt;/Text&gt;     &lt;Box style={{ width: 88, height: 6, background: '#0D9488', borderRadius: 3 }} /&gt;     &lt;Text style={{ fontSize: 24, color: '#FAF7F2', lineHeight: 1.6, opacity: 0.95 }}&gt;成绩的差距，是习惯的差距——&lt;br /&gt;口诀背下来，行动表跑起来。&lt;/Text&gt;   &lt;/Box&gt;   &lt;Box style={{ position: 'absolute', right: 70, bottom: 40 }}&gt;     &lt;Text style={{ fontSize: 14, color: '#FAF7F2', opacity: 0.7 }}&gt;24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pic>
        <p:nvPicPr>
          <p:cNvPr id="448" name=""/>
          <p:cNvPicPr>
            <a:picLocks noChangeAspect="1"/>
          </p:cNvPicPr>
          <p:nvPr/>
        </p:nvPicPr>
        <p:blipFill>
          <a:blip r:embed="rId1"/>
          <a:srcRect l="0" t="5927" r="0" b="5927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97316">
                  <a:alpha val="80000"/>
                </a:srgbClr>
              </a:gs>
              <a:gs pos="52000">
                <a:srgbClr val="F97316">
                  <a:alpha val="42000"/>
                </a:srgbClr>
              </a:gs>
              <a:gs pos="100000">
                <a:srgbClr val="1A1A1A">
                  <a:alpha val="1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60007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 spc="450">
                <a:solidFill>
                  <a:srgbClr val="FAF7F2"/>
                </a:solidFill>
                <a:latin typeface="Microsoft YaHei"/>
                <a:ea typeface="Microsoft YaHei"/>
              </a:rPr>
              <a:t>好习惯与总结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857250" y="3990975"/>
            <a:ext cx="838200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57250" y="1695450"/>
            <a:ext cx="6000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AF7F2">
                    <a:alpha val="35000"/>
                  </a:srgbClr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57250" y="4276725"/>
            <a:ext cx="6000750" cy="8858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成绩的差距，是习惯的差距——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800">
                <a:solidFill>
                  <a:srgbClr val="FAF7F2">
                    <a:alpha val="95000"/>
                  </a:srgbClr>
                </a:solidFill>
                <a:latin typeface="Microsoft YaHei"/>
                <a:ea typeface="Microsoft YaHei"/>
              </a:rPr>
              <a:t>口诀背下来，行动表跑起来。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111567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7F2">
                    <a:alpha val="70000"/>
                  </a:srgbClr>
                </a:solidFill>
                <a:latin typeface="Microsoft YaHei"/>
                <a:ea typeface="Microsoft YaHei"/>
              </a:rPr>
              <a:t>24 / 28</a:t>
            </a:r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455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6 好习惯与总结&lt;/Text&gt;       &lt;Text style={{ fontSize: 34, fontWeight: 'bold', color: '#1A1A1A' }}&gt;六个隐形失分点：卷子上看不见&lt;/Text&gt;     &lt;/Box&gt;     &lt;Text style={{ fontSize: 14, color: '#1A1A1A', opacity: 0.55 }}&gt;条条有对策&lt;/Text&gt;   &lt;/Box&gt;   &lt;Box style={{ width: 1280, height: 540, padding: '12px 70px', flexDirection: 'row', gap: 36 }}&gt;     &lt;Box style={{ width: 300, display: 'flex', flexDirection: 'column', justifyContent: 'space-between' }}&gt;       &lt;Text style={{ fontSize: 26, fontWeight: 'bold', color: '#1A1A1A', lineHeight: 1.45 }}&gt;丢了分，&lt;br /&gt;卷子上却找不到&lt;br /&gt;对应的题？&lt;/Text&gt;       &lt;Text style={{ fontSize: 16, color: '#1A1A1A', opacity: 0.75, lineHeight: 1.7 }}&gt;资深老师补提醒：这 6 个习惯在暗中拉低成绩——它们不写在错题里，写在每一天的动作里。&lt;/Text&gt;       &lt;Box style={{ background: '#0D9488', borderRadius: 14, padding: '14px 18px' }}&gt;         &lt;Text style={{ fontSize: 15, fontWeight: 'bold', color: '#FAF7F2', lineHeight: 1.6 }}&gt;一次只改一个：&lt;br /&gt;本周盯住一条，练成再加下一条。&lt;/Text&gt;       &lt;/Box&gt;     &lt;/Box&gt;     &lt;Box style={{ flex: 1, flexDirection: 'row', flexWrap: 'wrap', gap: 12, alignContent: 'space-between' }}&gt;       {[         { n: '1 审题跳读', d: '漏看「不」「最」「错误的是」，会做的也答反', s: '反向词画三角，圈完再动笔' },         { n: '2 草稿乱打', d: '草稿是「第二张试卷」，乱得没法检查', s: '一题一格，标清题号' },         { n: '3 时间失控', d: '卡在难题 10 分钟，会做的没时间做', s: '先易后难，难题做记号跳过' },         { n: '4 错题不整理', d: '同样的错反复犯，一错再错', s: '错题本三栏：抄题＋错因＋正解' },         { n: '5 边写边玩', d: '写 5 分钟玩 10 分钟，作业拖到深夜', s: '番茄钟儿童版：25 分钟专注＋5 分钟休息' },         { n: '6 死记硬背', d: '公式背熟了不会用，换个题就懵', s: '讲给爸妈听——能讲明白＝真懂（费曼法）' },       ].map((t, i) =&gt; (         &lt;Box key={i} style={{ width: '48.4%', height: '31.6%', background: '#FFFFFF', borderRadius: 12, padding: '10px 14px', boxShadow: '0 2px 8px rgba(26,26,26,0.05)', display: 'flex', flexDirection: 'column' }}&gt;           &lt;Text style={{ fontSize: 15.5, fontWeight: 'bold', color: '#F97316' }}&gt;{t.n}&lt;/Text&gt;           &lt;Text style={{ fontSize: 13.5, color: '#1A1A1A', opacity: 0.8, lineHeight: 1.5, marginTop: 4, flex: 1 }}&gt;{t.d}&lt;/Text&gt;           &lt;Box style={{ background: 'rgba(13,148,136,0.1)', borderRadius: 6, padding: '4px 8px', alignSelf: 'flex-start' }}&gt;             &lt;Text style={{ fontSize: 12.5, fontWeight: 'bold', color: '#0D9488' }}&gt;对策：{t.s}&lt;/Text&gt;           &lt;/Box&gt;         &lt;/Box&gt;       ))}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25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06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好习惯与总结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六个隐形失分点：卷子上看不见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66750" y="1257300"/>
            <a:ext cx="2857500" cy="12954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丢了分，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卷子上却找不到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对应的题？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66750" y="5353050"/>
            <a:ext cx="2857500" cy="819150"/>
          </a:xfrm>
          <a:prstGeom prst="roundRect">
            <a:avLst>
              <a:gd name="adj" fmla="val 16279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38200" y="5486400"/>
            <a:ext cx="25146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一次只改一个：</a:t>
            </a:r>
            <a:endParaRPr/>
          </a:p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FAF7F2"/>
                </a:solidFill>
                <a:latin typeface="Microsoft YaHei"/>
                <a:ea typeface="Microsoft YaHei"/>
              </a:rPr>
              <a:t>本周盯住一条，练成再加下一条。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3867150" y="1257300"/>
            <a:ext cx="3705225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4000500" y="1352550"/>
            <a:ext cx="34385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97316"/>
                </a:solidFill>
                <a:latin typeface="Microsoft YaHei"/>
                <a:ea typeface="Microsoft YaHei"/>
              </a:rPr>
              <a:t>1 </a:t>
            </a:r>
            <a:r>
              <a:rPr lang="zh-CN" sz="1163" b="1">
                <a:solidFill>
                  <a:srgbClr val="F97316"/>
                </a:solidFill>
                <a:latin typeface="Microsoft YaHei"/>
                <a:ea typeface="Microsoft YaHei"/>
              </a:rPr>
              <a:t>审题跳读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4000500" y="2495550"/>
            <a:ext cx="1943100" cy="219075"/>
          </a:xfrm>
          <a:prstGeom prst="roundRect">
            <a:avLst>
              <a:gd name="adj" fmla="val 26087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076700" y="2533650"/>
            <a:ext cx="179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对策：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反向词画三角，圈完再动笔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7686675" y="1257300"/>
            <a:ext cx="3705225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7820025" y="1352550"/>
            <a:ext cx="34385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97316"/>
                </a:solidFill>
                <a:latin typeface="Microsoft YaHei"/>
                <a:ea typeface="Microsoft YaHei"/>
              </a:rPr>
              <a:t>2 </a:t>
            </a:r>
            <a:r>
              <a:rPr lang="zh-CN" sz="1163" b="1">
                <a:solidFill>
                  <a:srgbClr val="F97316"/>
                </a:solidFill>
                <a:latin typeface="Microsoft YaHei"/>
                <a:ea typeface="Microsoft YaHei"/>
              </a:rPr>
              <a:t>草稿乱打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7820025" y="2495550"/>
            <a:ext cx="1581150" cy="219075"/>
          </a:xfrm>
          <a:prstGeom prst="roundRect">
            <a:avLst>
              <a:gd name="adj" fmla="val 26087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896225" y="2533650"/>
            <a:ext cx="1428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对策：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一题一格，标清题号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3867150" y="2933700"/>
            <a:ext cx="3705225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4000500" y="3028950"/>
            <a:ext cx="34385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97316"/>
                </a:solidFill>
                <a:latin typeface="Microsoft YaHei"/>
                <a:ea typeface="Microsoft YaHei"/>
              </a:rPr>
              <a:t>3 </a:t>
            </a:r>
            <a:r>
              <a:rPr lang="zh-CN" sz="1163" b="1">
                <a:solidFill>
                  <a:srgbClr val="F97316"/>
                </a:solidFill>
                <a:latin typeface="Microsoft YaHei"/>
                <a:ea typeface="Microsoft YaHei"/>
              </a:rPr>
              <a:t>时间失控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4000500" y="4171950"/>
            <a:ext cx="1943100" cy="219075"/>
          </a:xfrm>
          <a:prstGeom prst="roundRect">
            <a:avLst>
              <a:gd name="adj" fmla="val 26087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076700" y="4210050"/>
            <a:ext cx="179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对策：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先易后难，难题做记号跳过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7686675" y="2933700"/>
            <a:ext cx="3705225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7820025" y="3028950"/>
            <a:ext cx="34385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97316"/>
                </a:solidFill>
                <a:latin typeface="Microsoft YaHei"/>
                <a:ea typeface="Microsoft YaHei"/>
              </a:rPr>
              <a:t>4 </a:t>
            </a:r>
            <a:r>
              <a:rPr lang="zh-CN" sz="1163" b="1">
                <a:solidFill>
                  <a:srgbClr val="F97316"/>
                </a:solidFill>
                <a:latin typeface="Microsoft YaHei"/>
                <a:ea typeface="Microsoft YaHei"/>
              </a:rPr>
              <a:t>错题不整理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7820025" y="4171950"/>
            <a:ext cx="2181225" cy="219075"/>
          </a:xfrm>
          <a:prstGeom prst="roundRect">
            <a:avLst>
              <a:gd name="adj" fmla="val 26087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7896225" y="4210050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对策：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错题本三栏：抄题＋错因＋正解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3867150" y="4610100"/>
            <a:ext cx="3705225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000500" y="4705350"/>
            <a:ext cx="34385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97316"/>
                </a:solidFill>
                <a:latin typeface="Microsoft YaHei"/>
                <a:ea typeface="Microsoft YaHei"/>
              </a:rPr>
              <a:t>5 </a:t>
            </a:r>
            <a:r>
              <a:rPr lang="zh-CN" sz="1163" b="1">
                <a:solidFill>
                  <a:srgbClr val="F97316"/>
                </a:solidFill>
                <a:latin typeface="Microsoft YaHei"/>
                <a:ea typeface="Microsoft YaHei"/>
              </a:rPr>
              <a:t>边写边玩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4000500" y="5848350"/>
            <a:ext cx="2686050" cy="219075"/>
          </a:xfrm>
          <a:prstGeom prst="roundRect">
            <a:avLst>
              <a:gd name="adj" fmla="val 26087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4076700" y="5886450"/>
            <a:ext cx="2533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对策：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番茄钟儿童版：</a:t>
            </a:r>
            <a:r>
              <a:rPr lang="en-US" sz="938" b="1">
                <a:solidFill>
                  <a:srgbClr val="0D9488"/>
                </a:solidFill>
                <a:latin typeface="Microsoft YaHei"/>
                <a:ea typeface="Microsoft YaHei"/>
              </a:rPr>
              <a:t>25 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分钟专注＋</a:t>
            </a:r>
            <a:r>
              <a:rPr lang="en-US" sz="938" b="1">
                <a:solidFill>
                  <a:srgbClr val="0D9488"/>
                </a:solidFill>
                <a:latin typeface="Microsoft YaHei"/>
                <a:ea typeface="Microsoft YaHei"/>
              </a:rPr>
              <a:t>5 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分钟休息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7686675" y="4610100"/>
            <a:ext cx="3705225" cy="155257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820025" y="4705350"/>
            <a:ext cx="34385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97316"/>
                </a:solidFill>
                <a:latin typeface="Microsoft YaHei"/>
                <a:ea typeface="Microsoft YaHei"/>
              </a:rPr>
              <a:t>6 </a:t>
            </a:r>
            <a:r>
              <a:rPr lang="zh-CN" sz="1163" b="1">
                <a:solidFill>
                  <a:srgbClr val="F97316"/>
                </a:solidFill>
                <a:latin typeface="Microsoft YaHei"/>
                <a:ea typeface="Microsoft YaHei"/>
              </a:rPr>
              <a:t>死记硬背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7820025" y="5848350"/>
            <a:ext cx="2771775" cy="219075"/>
          </a:xfrm>
          <a:prstGeom prst="roundRect">
            <a:avLst>
              <a:gd name="adj" fmla="val 26087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896225" y="5886450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对策：</a:t>
            </a:r>
            <a:r>
              <a:rPr lang="zh-CN" sz="938" b="1">
                <a:solidFill>
                  <a:srgbClr val="0D9488"/>
                </a:solidFill>
                <a:latin typeface="Microsoft YaHei"/>
                <a:ea typeface="Microsoft YaHei"/>
              </a:rPr>
              <a:t>讲给爸妈听——能讲明白＝真懂（费曼法）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0858500" y="5905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条条有对策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66750" y="3486150"/>
            <a:ext cx="2857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资深老师补提醒：这</a:t>
            </a:r>
            <a:r>
              <a:rPr lang="en-US" sz="1200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1A1A1A">
                    <a:alpha val="75000"/>
                  </a:srgbClr>
                </a:solidFill>
                <a:latin typeface="Microsoft YaHei"/>
                <a:ea typeface="Microsoft YaHei"/>
              </a:rPr>
              <a:t>个习惯在暗中拉低成绩——它们不写在错题里，写在每一天的动作里。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4000500" y="1571625"/>
            <a:ext cx="3438525" cy="9239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漏看「不」「最」「错误的是」，会做的也答反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7820025" y="1571625"/>
            <a:ext cx="3438525" cy="9239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草稿是「第二张试卷」，乱得没法检查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4000500" y="3248025"/>
            <a:ext cx="3438525" cy="9239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卡在难题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10 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分钟，会做的没时间做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820025" y="3248025"/>
            <a:ext cx="3438525" cy="9239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同样的错反复犯，一错再错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4000500" y="4924425"/>
            <a:ext cx="3438525" cy="9239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写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分钟玩</a:t>
            </a:r>
            <a:r>
              <a:rPr lang="en-US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 10 </a:t>
            </a: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分钟，作业拖到深夜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820025" y="4924425"/>
            <a:ext cx="3438525" cy="9239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1A1A1A">
                    <a:alpha val="80000"/>
                  </a:srgbClr>
                </a:solidFill>
                <a:latin typeface="Microsoft YaHei"/>
                <a:ea typeface="Microsoft YaHei"/>
              </a:rPr>
              <a:t>公式背熟了不会用，换个题就懵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25 / 28</a:t>
            </a:r>
            <a:endParaRPr/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498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6 好习惯与总结&lt;/Text&gt;       &lt;Text style={{ fontSize: 34, fontWeight: 'bold', color: '#1A1A1A' }}&gt;满分好习惯 · 五段口诀（全篇总纲）&lt;/Text&gt;     &lt;/Box&gt;     &lt;Text style={{ fontSize: 14, color: '#1A1A1A', opacity: 0.55 }}&gt;贴在书桌前，早晚各一遍&lt;/Text&gt;   &lt;/Box&gt;   &lt;Box style={{ width: 1280, height: 540, padding: '14px 90px', flexDirection: 'column', justifyContent: 'space-between' }}&gt;     {[       { tag: '审题', text: '一读二圈三画四列，「不、最、错」字画三角，线段一画题自明', c: '#F97316' },       { tag: '卷面', text: '先想好，再动笔，写错了，画条线，卷面就是小名片', c: '#0D9488' },       { tag: '计算', text: '抄题核对三秒钟，进位退位做标记，竖式分块题号清，逆算验一验', c: '#F97316' },       { tag: '检查', text: '交卷之前查三遍：一查漏题翻背面，二查单位加答句，三查抄写别抄错', c: '#0D9488' },       { tag: '错题本', text: '错题本是聚宝盆，抄题错因加正解，同一个坑不摔两回，讲给爸妈才算懂', c: '#F97316' },     ].map((r, i) =&gt; (       &lt;Box key={i} style={{ flexDirection: 'row', alignItems: 'center', gap: 18 }}&gt;         &lt;Box style={{ width: 108, height: 52, borderRadius: 12, background: r.c, justifyContent: 'center', alignItems: 'center' }}&gt;           &lt;Text style={{ fontSize: 20, fontWeight: 'bold', color: '#FAF7F2' }}&gt;{r.tag}&lt;/Text&gt;         &lt;/Box&gt;         &lt;Text style={{ flex: 1, fontSize: 27, fontWeight: 'bold', color: '#1A1A1A', letterSpacing: 1 }}&gt;{r.text}&lt;/Text&gt;       &lt;/Box&gt;     ))}     &lt;Box style={{ background: '#1A1A1A', borderRadius: 14, padding: '12px 22px', flexDirection: 'row', alignItems: 'center', justifyContent: 'space-between' }}&gt;       &lt;Text style={{ fontSize: 16, fontWeight: 'bold', color: '#F97316' }}&gt;语数英随手带&lt;/Text&gt;       &lt;Text style={{ fontSize: 16.5, color: '#FAF7F2' }}&gt;语文：字形想画面，答题三件套，作文先提纲　｜　英语：通读圈关键词，信号词定单复，语法模板卡片套&lt;/Text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26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515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06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好习惯与总结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5153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满分好习惯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五段口诀（全篇总纲）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857250" y="1276350"/>
            <a:ext cx="1028700" cy="495300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1181100" y="14097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AF7F2"/>
                </a:solidFill>
                <a:latin typeface="Microsoft YaHei"/>
                <a:ea typeface="Microsoft YaHei"/>
              </a:rPr>
              <a:t>审题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2057400" y="1371600"/>
            <a:ext cx="92773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 spc="75">
                <a:solidFill>
                  <a:srgbClr val="1A1A1A"/>
                </a:solidFill>
                <a:latin typeface="Microsoft YaHei"/>
                <a:ea typeface="Microsoft YaHei"/>
              </a:rPr>
              <a:t>一读二圈三画四列，「不、最、错」字画三角，线段一画题自明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857250" y="2171700"/>
            <a:ext cx="1028700" cy="495300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181100" y="23050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AF7F2"/>
                </a:solidFill>
                <a:latin typeface="Microsoft YaHei"/>
                <a:ea typeface="Microsoft YaHei"/>
              </a:rPr>
              <a:t>卷面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2057400" y="2266950"/>
            <a:ext cx="92773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 spc="75">
                <a:solidFill>
                  <a:srgbClr val="1A1A1A"/>
                </a:solidFill>
                <a:latin typeface="Microsoft YaHei"/>
                <a:ea typeface="Microsoft YaHei"/>
              </a:rPr>
              <a:t>先想好，再动笔，写错了，画条线，卷面就是小名片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857250" y="3057525"/>
            <a:ext cx="1028700" cy="495300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181100" y="31908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AF7F2"/>
                </a:solidFill>
                <a:latin typeface="Microsoft YaHei"/>
                <a:ea typeface="Microsoft YaHei"/>
              </a:rPr>
              <a:t>计算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2057400" y="3152775"/>
            <a:ext cx="92773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 spc="75">
                <a:solidFill>
                  <a:srgbClr val="1A1A1A"/>
                </a:solidFill>
                <a:latin typeface="Microsoft YaHei"/>
                <a:ea typeface="Microsoft YaHei"/>
              </a:rPr>
              <a:t>抄题核对三秒钟，进位退位做标记，竖式分块题号清，逆算验一验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857250" y="3952875"/>
            <a:ext cx="1028700" cy="495300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181100" y="40862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AF7F2"/>
                </a:solidFill>
                <a:latin typeface="Microsoft YaHei"/>
                <a:ea typeface="Microsoft YaHei"/>
              </a:rPr>
              <a:t>检查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2057400" y="4048125"/>
            <a:ext cx="92773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 spc="75">
                <a:solidFill>
                  <a:srgbClr val="1A1A1A"/>
                </a:solidFill>
                <a:latin typeface="Microsoft YaHei"/>
                <a:ea typeface="Microsoft YaHei"/>
              </a:rPr>
              <a:t>交卷之前查三遍：一查漏题翻背面，二查单位加答句，三查抄写别抄错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857250" y="4838700"/>
            <a:ext cx="1028700" cy="495300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085850" y="497205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AF7F2"/>
                </a:solidFill>
                <a:latin typeface="Microsoft YaHei"/>
                <a:ea typeface="Microsoft YaHei"/>
              </a:rPr>
              <a:t>错题本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2057400" y="4933950"/>
            <a:ext cx="92773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 spc="75">
                <a:solidFill>
                  <a:srgbClr val="1A1A1A"/>
                </a:solidFill>
                <a:latin typeface="Microsoft YaHei"/>
                <a:ea typeface="Microsoft YaHei"/>
              </a:rPr>
              <a:t>错题本是聚宝盆，抄题错因加正解，同一个坑不摔两回，讲给爸妈才算懂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857250" y="5734050"/>
            <a:ext cx="10477500" cy="419100"/>
          </a:xfrm>
          <a:prstGeom prst="roundRect">
            <a:avLst>
              <a:gd name="adj" fmla="val 3181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066800" y="58483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语数英随手带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3733800" y="5848350"/>
            <a:ext cx="7391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>
                <a:solidFill>
                  <a:srgbClr val="FAF7F2"/>
                </a:solidFill>
                <a:latin typeface="Microsoft YaHei"/>
                <a:ea typeface="Microsoft YaHei"/>
              </a:rPr>
              <a:t>语文：字形想画面，答题三件套，作文先提纲　｜　英语：通读圈关键词，信号词定单复，语法模板卡片套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0058400" y="5905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贴在书桌前，早晚各一遍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26 / 28</a:t>
            </a:r>
            <a:endParaRPr/>
          </a:p>
        </p:txBody>
      </p:sp>
    </p:spTree>
  </p:cSld>
</p:sld>
</file>

<file path=ppt/slides/slide27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525" name="" descr="&lt;Slide style={{ width: 1280, height: 720, background: '#FAF7F2' }}&gt;   &lt;Box style={{ width: 1280, height: 120, padding: '20px 70px 0 70px', flexDirection: 'row', alignItems: 'center', justifyContent: 'space-between' }}&gt;     &lt;Box style={{ flexDirection: 'column', gap: 4 }}&gt;       &lt;Text style={{ fontSize: 14, color: '#0D9488', letterSpacing: 3, fontWeight: 'bold' }}&gt;06 好习惯与总结&lt;/Text&gt;       &lt;Text style={{ fontSize: 34, fontWeight: 'bold', color: '#1A1A1A' }}&gt;21 天行动表：把方法变成习惯&lt;/Text&gt;     &lt;/Box&gt;     &lt;Text style={{ fontSize: 14, color: '#1A1A1A', opacity: 0.55 }}&gt;好习惯不靠意志力，靠流程&lt;/Text&gt;   &lt;/Box&gt;   &lt;Box style={{ width: 1280, height: 540, padding: '12px 70px', flexDirection: 'row', gap: 36 }}&gt;     &lt;Box style={{ flex: 1.25, flexDirection: 'column', gap: 12 }}&gt;       &lt;Table         style={{ width: '100%', height: 250 }}         defaultTextStyle={{ fontSize: 14.5, textAlign: 'left', color: '#1A1A1A' }}         defaultCellStyle={{ border: { left: { width: 1, color: '#eee' }, right: { width: 1, color: '#eee' }, top: { width: 1, color: '#eee' }, bottom: { width: 1, color: '#eee' } }, padding: 6 }}         cells={[           [{ text: '环节', textStyle: { bold: true, color: '#FAF7F2' }, cellStyle: { background: { color: '#F97316' } } }, { text: '每天怎么做', textStyle: { bold: true, color: '#FAF7F2' }, cellStyle: { background: { color: '#F97316' } } }, { text: '用哪一招', textStyle: { bold: true, color: '#FAF7F2' }, cellStyle: { background: { color: '#F97316' } } }],           [{ text: 'P 计划', textStyle: { bold: true, color: '#F97316' } }, '放学先列作业清单，预估每项用时', '作业清单'],           [{ text: 'D 执行', textStyle: { bold: true, color: '#F97316' } }, '一科一科来，草稿分区，番茄钟 25+5', '防错四步＋番茄钟'],           [{ text: 'C 检查', textStyle: { bold: true, color: '#F97316' } }, '交作业前跑一遍「交卷前三查」', '检查清单'],           [{ text: 'A 改进', textStyle: { bold: true, color: '#F97316' } }, '错题进本：抄题＋错因＋正解，明天重点练', '错题本三栏'],         ]}       /&gt;       &lt;Box style={{ flex: 1, background: 'rgba(13,148,136,0.08)', borderRadius: 14, padding: '12px 18px' }}&gt;         &lt;Text style={{ fontSize: 15, fontWeight: 'bold', color: '#0D9488' }}&gt;每周复盘 3 问（周日晚 5 分钟）&lt;/Text&gt;         &lt;Text style={{ fontSize: 14.5, color: '#1A1A1A', lineHeight: 1.7, marginTop: 4 }}&gt;① 这周我错在哪类题？　② 口诀用上了吗？　③ 下周改哪个习惯？——一次只改一个。&lt;/Text&gt;       &lt;/Box&gt;     &lt;/Box&gt;     &lt;Box style={{ flex: 0.8, flexDirection: 'column', gap: 12 }}&gt;       &lt;Box style={{ background: '#F97316', borderRadius: 16, padding: '18px 22px' }}&gt;         &lt;Text style={{ fontSize: 16, color: '#FAF7F2', opacity: 0.9 }}&gt;跟着行动表跑&lt;/Text&gt;         &lt;Text style={{ fontSize: 64, fontWeight: 'bold', color: '#FAF7F2', lineHeight: 1.1 }}&gt;21 天&lt;/Text&gt;         &lt;Text style={{ fontSize: 15, color: '#FAF7F2', opacity: 0.92 }}&gt;每天 10 分钟跑完 P→D→C→A 一圈，习惯自然长出来。&lt;/Text&gt;       &lt;/Box&gt;       &lt;Box style={{ flex: 1, background: '#FFFFFF', borderRadius: 14, padding: '14px 18px', boxShadow: '0 2px 10px rgba(26,26,26,0.05)' }}&gt;         &lt;Text style={{ fontSize: 15.5, fontWeight: 'bold', color: '#0D9488' }}&gt;给家长的配合提示&lt;/Text&gt;         &lt;Text style={{ fontSize: 14.5, color: '#1A1A1A', lineHeight: 1.7, marginTop: 6 }}&gt;① 只提醒口诀，不代劳：问「防错四步第一步是什么？」，而不是替孩子检查；&lt;br /&gt;② 看到进步要具体表扬：「今天卷面零涂改」比「真棒」有效 10 倍。&lt;/Text&gt;       &lt;/Box&gt;     &lt;/Box&gt;   &lt;/Box&gt;   &lt;Box style={{ width: 1280, height: 60, padding: '0 70px', flexDirection: 'row', alignItems: 'center', justifyContent: 'space-between' }}&gt;     &lt;Box style={{ flexDirection: 'row', alignItems: 'center', gap: 10 }}&gt;       &lt;Box style={{ width: 28, height: 28, borderRadius: 7, border: '2px solid #F97316', justifyContent: 'center', alignItems: 'center' }}&gt;         &lt;Text style={{ fontSize: 13, fontWeight: 'bold', color: '#F97316' }}&gt;训&lt;/Text&gt;       &lt;/Box&gt;       &lt;Text style={{ fontSize: 14, color: '#1A1A1A', opacity: 0.55 }}&gt;四年级知识强化训练营&lt;/Text&gt;     &lt;/Box&gt;     &lt;Text style={{ fontSize: 14, color: '#1A1A1A', opacity: 0.55 }}&gt;27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06 </a:t>
            </a:r>
            <a:r>
              <a:rPr lang="zh-CN" sz="1050" b="1" spc="225">
                <a:solidFill>
                  <a:srgbClr val="0D9488"/>
                </a:solidFill>
                <a:latin typeface="Microsoft YaHei"/>
                <a:ea typeface="Microsoft YaHei"/>
              </a:rPr>
              <a:t>好习惯与总结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666750" y="571500"/>
            <a:ext cx="434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21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天行动表：把方法变成习惯</a:t>
            </a:r>
            <a:endParaRPr/>
          </a:p>
        </p:txBody>
      </p:sp>
      <p:graphicFrame>
        <p:nvGraphicFramePr>
          <p:cNvPr id="529" name=""/>
          <p:cNvGraphicFramePr/>
          <p:nvPr/>
        </p:nvGraphicFramePr>
        <p:xfrm rot="0" flipH="0" flipV="0">
          <a:off x="666750" y="1257300"/>
          <a:ext cx="6410325" cy="2381250"/>
        </p:xfrm>
        <a:graphic>
          <a:graphicData uri="http://schemas.openxmlformats.org/drawingml/2006/table">
            <a:tbl>
              <a:tblGrid>
                <a:gridCol w="739229">
                  <a:extLst>
                    <a:ext uri="{9D8B030D-6E8A-4147-A177-3AD203B41FA5}">
                      <a16:colId val="1"/>
                    </a:ext>
                  </a:extLst>
                </a:gridCol>
                <a:gridCol w="3938874">
                  <a:extLst>
                    <a:ext uri="{9D8B030D-6E8A-4147-A177-3AD203B41FA5}">
                      <a16:colId val="2"/>
                    </a:ext>
                  </a:extLst>
                </a:gridCol>
                <a:gridCol w="173222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环节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每天怎么做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AF7F2"/>
                          </a:solidFill>
                          <a:latin typeface="Microsoft YaHei"/>
                          <a:ea typeface="Microsoft YaHei"/>
                        </a:rPr>
                        <a:t>用哪一招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97316"/>
                          </a:solidFill>
                          <a:latin typeface="Microsoft YaHei"/>
                          <a:ea typeface="Microsoft YaHei"/>
                        </a:rPr>
                        <a:t>P 计划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放学先列作业清单，预估每项用时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作业清单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97316"/>
                          </a:solidFill>
                          <a:latin typeface="Microsoft YaHei"/>
                          <a:ea typeface="Microsoft YaHei"/>
                        </a:rPr>
                        <a:t>D 执行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一科一科来，草稿分区，番茄钟 25+5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防错四步＋番茄钟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97316"/>
                          </a:solidFill>
                          <a:latin typeface="Microsoft YaHei"/>
                          <a:ea typeface="Microsoft YaHei"/>
                        </a:rPr>
                        <a:t>C 检查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交作业前跑一遍「交卷前三查」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检查清单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97316"/>
                          </a:solidFill>
                          <a:latin typeface="Microsoft YaHei"/>
                          <a:ea typeface="Microsoft YaHei"/>
                        </a:rPr>
                        <a:t>A 改进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错题进本：抄题＋错因＋正解，明天重点练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错题本三栏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530" name=""/>
          <p:cNvSpPr/>
          <p:nvPr/>
        </p:nvSpPr>
        <p:spPr>
          <a:xfrm rot="0" flipH="0" flipV="0">
            <a:off x="666750" y="3752850"/>
            <a:ext cx="6410325" cy="2419350"/>
          </a:xfrm>
          <a:prstGeom prst="roundRect">
            <a:avLst>
              <a:gd name="adj" fmla="val 5512"/>
            </a:avLst>
          </a:prstGeom>
          <a:solidFill>
            <a:srgbClr val="0D9488">
              <a:alpha val="8000"/>
            </a:srgbClr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067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D9488"/>
                </a:solidFill>
                <a:latin typeface="Microsoft YaHei"/>
                <a:ea typeface="Microsoft YaHei"/>
              </a:rPr>
              <a:t>每周复盘</a:t>
            </a:r>
            <a:r>
              <a:rPr lang="en-US" sz="1125" b="1">
                <a:solidFill>
                  <a:srgbClr val="0D9488"/>
                </a:solidFill>
                <a:latin typeface="Microsoft YaHei"/>
                <a:ea typeface="Microsoft YaHei"/>
              </a:rPr>
              <a:t> 3 </a:t>
            </a:r>
            <a:r>
              <a:rPr lang="zh-CN" sz="1125" b="1">
                <a:solidFill>
                  <a:srgbClr val="0D9488"/>
                </a:solidFill>
                <a:latin typeface="Microsoft YaHei"/>
                <a:ea typeface="Microsoft YaHei"/>
              </a:rPr>
              <a:t>问（周日晚</a:t>
            </a:r>
            <a:r>
              <a:rPr lang="en-US" sz="1125" b="1">
                <a:solidFill>
                  <a:srgbClr val="0D9488"/>
                </a:solidFill>
                <a:latin typeface="Microsoft YaHei"/>
                <a:ea typeface="Microsoft YaHei"/>
              </a:rPr>
              <a:t> 5 </a:t>
            </a:r>
            <a:r>
              <a:rPr lang="zh-CN" sz="1125" b="1">
                <a:solidFill>
                  <a:srgbClr val="0D9488"/>
                </a:solidFill>
                <a:latin typeface="Microsoft YaHei"/>
                <a:ea typeface="Microsoft YaHei"/>
              </a:rPr>
              <a:t>分钟）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067425" cy="285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①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这周我错在哪类题？　②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口诀用上了吗？　③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下周改哪个习惯？——一次只改一个。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7419975" y="1257300"/>
            <a:ext cx="4105275" cy="1514475"/>
          </a:xfrm>
          <a:prstGeom prst="roundRect">
            <a:avLst>
              <a:gd name="adj" fmla="val 10063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629525" y="1619250"/>
            <a:ext cx="3686175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AF7F2"/>
                </a:solidFill>
                <a:latin typeface="Microsoft YaHei"/>
                <a:ea typeface="Microsoft YaHei"/>
              </a:rPr>
              <a:t>21 </a:t>
            </a:r>
            <a:r>
              <a:rPr lang="zh-CN" sz="4800" b="1">
                <a:solidFill>
                  <a:srgbClr val="FAF7F2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419975" y="2886075"/>
            <a:ext cx="4105275" cy="3286125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591425" y="3019425"/>
            <a:ext cx="37623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0D9488"/>
                </a:solidFill>
                <a:latin typeface="Microsoft YaHei"/>
                <a:ea typeface="Microsoft YaHei"/>
              </a:rPr>
              <a:t>给家长的配合提示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7591425" y="3257550"/>
            <a:ext cx="3762375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①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只提醒口诀，不代劳：问「防错四步第一步是什么？」，而不是替孩子检查；</a:t>
            </a:r>
            <a:endParaRPr/>
          </a:p>
          <a:p>
            <a:pPr>
              <a:lnSpc>
                <a:spcPct val="170000"/>
              </a:lnSpc>
            </a:pP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②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看到进步要具体表扬：「今天卷面零涂改」比「真棒」有效</a:t>
            </a:r>
            <a:r>
              <a:rPr lang="en-US" sz="1088">
                <a:solidFill>
                  <a:srgbClr val="1A1A1A"/>
                </a:solidFill>
                <a:latin typeface="Microsoft YaHei"/>
                <a:ea typeface="Microsoft YaHei"/>
              </a:rPr>
              <a:t> 10 </a:t>
            </a:r>
            <a:r>
              <a:rPr lang="zh-CN" sz="1088">
                <a:solidFill>
                  <a:srgbClr val="1A1A1A"/>
                </a:solidFill>
                <a:latin typeface="Microsoft YaHei"/>
                <a:ea typeface="Microsoft YaHei"/>
              </a:rPr>
              <a:t>倍。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66750" y="6438900"/>
            <a:ext cx="266700" cy="266700"/>
          </a:xfrm>
          <a:prstGeom prst="roundRect">
            <a:avLst>
              <a:gd name="adj" fmla="val 25000"/>
            </a:avLst>
          </a:prstGeom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742950" y="64960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97316"/>
                </a:solidFill>
                <a:latin typeface="Microsoft YaHei"/>
                <a:ea typeface="Microsoft YaHei"/>
              </a:rPr>
              <a:t>训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9925050" y="59055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好习惯不靠意志力，靠流程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629525" y="1428750"/>
            <a:ext cx="3686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跟着行动表跑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7629525" y="2428875"/>
            <a:ext cx="3686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每天</a:t>
            </a:r>
            <a:r>
              <a:rPr lang="en-US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 10 </a:t>
            </a: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分钟跑完</a:t>
            </a:r>
            <a:r>
              <a:rPr lang="en-US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 P→D→C→A </a:t>
            </a:r>
            <a:r>
              <a:rPr lang="zh-CN" sz="1125">
                <a:solidFill>
                  <a:srgbClr val="FAF7F2">
                    <a:alpha val="92000"/>
                  </a:srgbClr>
                </a:solidFill>
                <a:latin typeface="Microsoft YaHei"/>
                <a:ea typeface="Microsoft YaHei"/>
              </a:rPr>
              <a:t>一圈，习惯自然长出来。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1028700" y="6496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四年级知识强化训练营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1111567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1A1A">
                    <a:alpha val="55000"/>
                  </a:srgbClr>
                </a:solidFill>
                <a:latin typeface="Microsoft YaHei"/>
                <a:ea typeface="Microsoft YaHei"/>
              </a:rPr>
              <a:t>27 / 28</a:t>
            </a:r>
            <a:endParaRPr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5" name="" descr="&lt;Slide style={{ width: 1280, height: 720, background: '#1A1A1A', position: 'relative', overflow: 'hidden' }}&gt;   &lt;Image src=&quot;assets/ending_hero.png&quot; style={{ position: 'absolute', top: 0, left: 0, width: 1280, height: 720, objectFit: 'cover' }} /&gt;   &lt;Box style={{ position: 'absolute', top: 0, left: 0, width: 1280, height: 720, background: 'linear-gradient(90deg, rgba(26,26,26,0.80) 0%, rgba(26,26,26,0.50) 50%, rgba(26,26,26,0.10) 100%)' }} /&gt;   &lt;Box style={{ position: 'absolute', top: 0, left: 0, width: 680, height: 720, padding: '0 0 60px 90px', display: 'flex', flexDirection: 'column', justifyContent: 'center', gap: 26 }}&gt;     &lt;Text style={{ fontSize: 20, color: '#F97316', fontWeight: 'bold', letterSpacing: 4 }}&gt;从今天开始&lt;/Text&gt;     &lt;Text style={{ fontSize: 56, fontWeight: 'bold', color: '#FAF7F2', lineHeight: 1.3 }}&gt;问题不可怕，&lt;br /&gt;方法当家。&lt;/Text&gt;     &lt;Box style={{ width: 88, height: 6, background: '#F97316', borderRadius: 3 }} /&gt;     &lt;Text style={{ fontSize: 22, color: '#FAF7F2', opacity: 0.9, lineHeight: 1.7 }}&gt;今晚就做三件事：&lt;br /&gt;数一数涂改处　·　抄一遍五段口诀　·　跑第一圈 PDCA&lt;/Text&gt;     &lt;Text style={{ fontSize: 16, color: '#FAF7F2', opacity: 0.65 }}&gt;好习惯训练营 · 21 天，我们逐条兑现&lt;/Text&gt;   &lt;/Box&gt;   &lt;Box style={{ position: 'absolute', right: 70, bottom: 40 }}&gt;     &lt;Text style={{ fontSize: 14, color: '#FAF7F2', opacity: 0.7 }}&gt;28 / 28&lt;/Text&gt;   &lt;/Box&gt;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pic>
        <p:nvPicPr>
          <p:cNvPr id="547" name=""/>
          <p:cNvPicPr>
            <a:picLocks noChangeAspect="1"/>
          </p:cNvPicPr>
          <p:nvPr/>
        </p:nvPicPr>
        <p:blipFill>
          <a:blip r:embed="rId1"/>
          <a:srcRect l="0" t="5927" r="0" b="5927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1A">
                  <a:alpha val="80000"/>
                </a:srgbClr>
              </a:gs>
              <a:gs pos="50000">
                <a:srgbClr val="1A1A1A">
                  <a:alpha val="50000"/>
                </a:srgbClr>
              </a:gs>
              <a:gs pos="100000">
                <a:srgbClr val="1A1A1A">
                  <a:alpha val="1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57250" y="1152525"/>
            <a:ext cx="561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300">
                <a:solidFill>
                  <a:srgbClr val="F97316"/>
                </a:solidFill>
                <a:latin typeface="Microsoft YaHei"/>
                <a:ea typeface="Microsoft YaHei"/>
              </a:rPr>
              <a:t>从今天开始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5619750" cy="1666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200" b="1">
                <a:solidFill>
                  <a:srgbClr val="FAF7F2"/>
                </a:solidFill>
                <a:latin typeface="Microsoft YaHei"/>
                <a:ea typeface="Microsoft YaHei"/>
              </a:rPr>
              <a:t>问题不可怕，</a:t>
            </a:r>
            <a:endParaRPr/>
          </a:p>
          <a:p>
            <a:pPr>
              <a:lnSpc>
                <a:spcPct val="130000"/>
              </a:lnSpc>
            </a:pPr>
            <a:r>
              <a:rPr lang="zh-CN" sz="4200" b="1">
                <a:solidFill>
                  <a:srgbClr val="FAF7F2"/>
                </a:solidFill>
                <a:latin typeface="Microsoft YaHei"/>
                <a:ea typeface="Microsoft YaHei"/>
              </a:rPr>
              <a:t>方法当家。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857250" y="3543300"/>
            <a:ext cx="8382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57250" y="3848100"/>
            <a:ext cx="5619750" cy="8572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今晚就做三件事：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数一数涂改处　·　抄一遍五段口诀　·　跑第一圈</a:t>
            </a:r>
            <a:r>
              <a:rPr lang="en-US" sz="1650">
                <a:solidFill>
                  <a:srgbClr val="FAF7F2">
                    <a:alpha val="90000"/>
                  </a:srgbClr>
                </a:solidFill>
                <a:latin typeface="Microsoft YaHei"/>
                <a:ea typeface="Microsoft YaHei"/>
              </a:rPr>
              <a:t> PDCA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857250" y="4953000"/>
            <a:ext cx="561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AF7F2">
                    <a:alpha val="65000"/>
                  </a:srgbClr>
                </a:solidFill>
                <a:latin typeface="Microsoft YaHei"/>
                <a:ea typeface="Microsoft YaHei"/>
              </a:rPr>
              <a:t>好习惯训练营</a:t>
            </a:r>
            <a:r>
              <a:rPr lang="en-US" sz="1200">
                <a:solidFill>
                  <a:srgbClr val="FAF7F2">
                    <a:alpha val="65000"/>
                  </a:srgbClr>
                </a:solidFill>
                <a:latin typeface="Microsoft YaHei"/>
                <a:ea typeface="Microsoft YaHei"/>
              </a:rPr>
              <a:t> · 21 </a:t>
            </a:r>
            <a:r>
              <a:rPr lang="zh-CN" sz="1200">
                <a:solidFill>
                  <a:srgbClr val="FAF7F2">
                    <a:alpha val="65000"/>
                  </a:srgbClr>
                </a:solidFill>
                <a:latin typeface="Microsoft YaHei"/>
                <a:ea typeface="Microsoft YaHei"/>
              </a:rPr>
              <a:t>天，我们逐条兑现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111567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7F2">
                    <a:alpha val="70000"/>
                  </a:srgbClr>
                </a:solidFill>
                <a:latin typeface="Microsoft YaHei"/>
                <a:ea typeface="Microsoft YaHei"/>
              </a:rPr>
              <a:t>28 / 28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="http://purl.org/dc/elements/1.1/" xmlns:dcterms="http://purl.org/dc/terms/" xmlns:cp="http://schemas.openxmlformats.org/package/2006/metadata/core-properties">
  <dcterms:created xsi:type="dcterms:W3CDTF">2026-09-17T12:41:26Z</dcterms:created>
  <dcterms:modified xsi:type="dcterms:W3CDTF">2026-09-17T12:41:26Z</dcterms:modified>
</cp:coreProperties>
</file>